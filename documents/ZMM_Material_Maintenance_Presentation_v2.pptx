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c00a263-bb6a-9e04-9aa5-e3391abeedc5}">
          <p14:sldIdLst>
            <p14:sldId id="256"/>
            <p14:sldId id="257"/>
            <p14:sldId id="258"/>
            <p14:sldId id="259"/>
            <p14:sldId id="260"/>
          </p14:sldIdLst>
        </p14:section>
        <p14:section name="Selection screen and template" id="{46b212b3-7f45-ed2a-576d-d83e37ab1f81}">
          <p14:sldIdLst>
            <p14:sldId id="261"/>
            <p14:sldId id="262"/>
            <p14:sldId id="263"/>
            <p14:sldId id="264"/>
          </p14:sldIdLst>
        </p14:section>
        <p14:section name="Create, Update, Extend" id="{574b2eac-2b19-b815-407b-a196ae537fd7}">
          <p14:sldIdLst>
            <p14:sldId id="265"/>
            <p14:sldId id="266"/>
            <p14:sldId id="267"/>
            <p14:sldId id="268"/>
            <p14:sldId id="269"/>
            <p14:sldId id="270"/>
          </p14:sldIdLst>
        </p14:section>
        <p14:section name="Run and results" id="{7fdf0e1b-2f68-89ba-5ac2-26b42dccb157}">
          <p14:sldIdLst>
            <p14:sldId id="271"/>
            <p14:sldId id="272"/>
            <p14:sldId id="273"/>
            <p14:sldId id="274"/>
            <p14:sldId id="275"/>
          </p14:sldIdLst>
        </p14:section>
        <p14:section name="Safeguards and deliverables" id="{d752f867-f5c5-bf30-454a-3f7b195edd92}">
          <p14:sldIdLst>
            <p14:sldId id="276"/>
            <p14:sldId id="277"/>
            <p14:sldId id="278"/>
            <p14:sldId id="279"/>
          </p14:sldIdLst>
        </p14:section>
        <p14:section name="Close" id="{1f938097-28b3-11c8-cdbe-29112fb8e9b9}">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walk through the mass material maintenance program: what it does, how it is configured, how users run it, and the safeguards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blocks: why, how users start a run, the three operations, results, and the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material maintenance works without the tool. Right: what the program changes. Key message: one file, configured rules, full simulation before anything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 is chosen on the selection screen and also written in the ACTION column of each row. Create builds new materials, Update changes existing ones, Extend adds new organisational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select, upload, configuration is loaded, rows are validated and mapped, simulated with the BAPI, and finally posted and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on the screen. The dropdowns show only values allowed for the chosen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are stored in SMW0 per operation. Each template now has an instruction sheet first; the program reads the second sheet. With a single sheet, that sheet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material fields, a few control columns steer the processing of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is the richest operation: reference copy, defaults, number protection and classification all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actual run every Create row is first simulated with a temporary number. Only if the simulation is clean does the program draw a real number and post. A row with errors never consumes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is deliberately conservative: only cells with a value are sent with their X-flag. A blank cell is never interpreted as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adds plants, storage locations or sales areas to an existing material. Basic data is untouched. If everything in the row already exists, the program tells the user to use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functions are available wherever the variant contains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start with a test run. It does exactly the same checks and simulation, but saves nothing. The actual run additionally draws numbers, commits, writes the result file and sends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has a type, row number, material, org. level, view and field. Green is success, yellow warning, red error. The last line summarises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are collected per row. A row with errors is not posted, but the other rows continue. The user corrects the Excel and runs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actual run the program writes one Excel file with two sheets to the server path and mails it to the recipients. The second sheet reads back the material from SAP so the user sees what was actually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are constants per operation (gc_max_rows) and can be changed in one place. The program prefetches master data in bulk to keep runtime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files work only in dialog. For background runs the file must be on the application server, copied in binary mode - text mode damages an 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Git repository: code, README, the user training guide and the instruction sheets for the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one program, three operations, rules in configuration, everything simulated before saving, and a complete log and result file.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rtlCol="0"/>
          <a:lstStyle>
            <a:lvl1pPr indent="0" marL="0">
              <a:buNone/>
              <a:defRPr lang="en-US" sz="7200" b="1" dirty="0">
                <a:solidFill>
                  <a:schemeClr val="accent2"/>
                </a:solidFill>
                <a:latin typeface="Cambria" pitchFamily="34" charset="0"/>
                <a:ea typeface="Cambria" pitchFamily="34" charset="-122"/>
                <a:cs typeface="Cambria" pitchFamily="34" charset="-120"/>
              </a:defRPr>
            </a:lvl1pPr>
          </a:lstStyle>
          <a:p>
            <a:pPr indent="0" marL="0">
              <a:buNone/>
            </a:pP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ZMM_MATERIAL_MAINTENANCE  |  Mass Material Maintenance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Mass Material Maintenance</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indent="0" marL="0">
              <a:buNone/>
            </a:pPr>
            <a:r>
              <a:rPr lang="en-US" sz="2200" dirty="0">
                <a:solidFill>
                  <a:schemeClr val="accent6"/>
                </a:solidFill>
              </a:rPr>
              <a:t>ZMM_MATERIAL_MAINTENANCE  -  Create, Update and Extend material masters from one Excel file</a:t>
            </a:r>
            <a:endParaRPr lang="en-US" sz="2200" dirty="0"/>
          </a:p>
        </p:txBody>
      </p:sp>
      <p:sp>
        <p:nvSpPr>
          <p:cNvPr id="4" name="icon bg FaCubes"/>
          <p:cNvSpPr/>
          <p:nvPr/>
        </p:nvSpPr>
        <p:spPr>
          <a:xfrm>
            <a:off x="731520" y="822960"/>
            <a:ext cx="914400" cy="914400"/>
          </a:xfrm>
          <a:prstGeom prst="ellipse">
            <a:avLst/>
          </a:prstGeom>
          <a:solidFill>
            <a:schemeClr val="accent1"/>
          </a:solidFill>
          <a:ln/>
        </p:spPr>
      </p:sp>
      <p:pic>
        <p:nvPicPr>
          <p:cNvPr id="5" name="icon FaCubes" descr="preencoded.png">    </p:cNvPr>
          <p:cNvPicPr>
            <a:picLocks noChangeAspect="1"/>
          </p:cNvPicPr>
          <p:nvPr/>
        </p:nvPicPr>
        <p:blipFill>
          <a:blip r:embed="rId1"/>
          <a:stretch>
            <a:fillRect/>
          </a:stretch>
        </p:blipFill>
        <p:spPr>
          <a:xfrm>
            <a:off x="960120" y="1051560"/>
            <a:ext cx="457200" cy="457200"/>
          </a:xfrm>
          <a:prstGeom prst="rect">
            <a:avLst/>
          </a:prstGeom>
        </p:spPr>
      </p:pic>
      <p:sp>
        <p:nvSpPr>
          <p:cNvPr id="6" name="Text 3"/>
          <p:cNvSpPr txBox="1"/>
          <p:nvPr/>
        </p:nvSpPr>
        <p:spPr>
          <a:xfrm>
            <a:off x="731520" y="5760720"/>
            <a:ext cx="5486400" cy="365760"/>
          </a:xfrm>
          <a:prstGeom prst="rect">
            <a:avLst/>
          </a:prstGeom>
          <a:noFill/>
          <a:ln/>
        </p:spPr>
        <p:txBody>
          <a:bodyPr wrap="square" lIns="0" tIns="0" rIns="0" bIns="0" rtlCol="0" anchor="t"/>
          <a:lstStyle/>
          <a:p>
            <a:pPr indent="0" marL="0">
              <a:buNone/>
            </a:pPr>
            <a:r>
              <a:rPr lang="en-US" sz="1600" dirty="0">
                <a:solidFill>
                  <a:schemeClr val="accent6"/>
                </a:solidFill>
              </a:rPr>
              <a:t>Development walkthrough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Agenda</a:t>
            </a:r>
            <a:endParaRPr lang="en-US" sz="3200" dirty="0"/>
          </a:p>
        </p:txBody>
      </p:sp>
      <p:sp>
        <p:nvSpPr>
          <p:cNvPr id="4" name="card"/>
          <p:cNvSpPr/>
          <p:nvPr/>
        </p:nvSpPr>
        <p:spPr>
          <a:xfrm>
            <a:off x="548640" y="1463040"/>
            <a:ext cx="3474720" cy="2103120"/>
          </a:xfrm>
          <a:prstGeom prst="roundRect">
            <a:avLst>
              <a:gd name="adj" fmla="val 3478"/>
            </a:avLst>
          </a:prstGeom>
          <a:solidFill>
            <a:schemeClr val="bg2"/>
          </a:solidFill>
          <a:ln/>
        </p:spPr>
      </p:sp>
      <p:sp>
        <p:nvSpPr>
          <p:cNvPr id="5" name="icon bg FaBullseye"/>
          <p:cNvSpPr/>
          <p:nvPr/>
        </p:nvSpPr>
        <p:spPr>
          <a:xfrm>
            <a:off x="822960" y="1737360"/>
            <a:ext cx="685800" cy="685800"/>
          </a:xfrm>
          <a:prstGeom prst="ellipse">
            <a:avLst/>
          </a:prstGeom>
          <a:solidFill>
            <a:schemeClr val="accent1"/>
          </a:solidFill>
          <a:ln/>
        </p:spPr>
      </p:sp>
      <p:pic>
        <p:nvPicPr>
          <p:cNvPr id="6" name="icon FaBullseye" descr="preencoded.png">    </p:cNvPr>
          <p:cNvPicPr>
            <a:picLocks noChangeAspect="1"/>
          </p:cNvPicPr>
          <p:nvPr/>
        </p:nvPicPr>
        <p:blipFill>
          <a:blip r:embed="rId1"/>
          <a:stretch>
            <a:fillRect/>
          </a:stretch>
        </p:blipFill>
        <p:spPr>
          <a:xfrm>
            <a:off x="994410" y="1908810"/>
            <a:ext cx="342900" cy="342900"/>
          </a:xfrm>
          <a:prstGeom prst="rect">
            <a:avLst/>
          </a:prstGeom>
        </p:spPr>
      </p:pic>
      <p:sp>
        <p:nvSpPr>
          <p:cNvPr id="7" name="Text 3"/>
          <p:cNvSpPr txBox="1"/>
          <p:nvPr/>
        </p:nvSpPr>
        <p:spPr>
          <a:xfrm>
            <a:off x="310896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01</a:t>
            </a:r>
            <a:endParaRPr lang="en-US" sz="2400" dirty="0"/>
          </a:p>
        </p:txBody>
      </p:sp>
      <p:sp>
        <p:nvSpPr>
          <p:cNvPr id="8" name="Text 4"/>
          <p:cNvSpPr txBox="1"/>
          <p:nvPr/>
        </p:nvSpPr>
        <p:spPr>
          <a:xfrm>
            <a:off x="82296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Why this development</a:t>
            </a:r>
            <a:endParaRPr lang="en-US" sz="1800" dirty="0"/>
          </a:p>
        </p:txBody>
      </p:sp>
      <p:sp>
        <p:nvSpPr>
          <p:cNvPr id="9" name="Text 5"/>
          <p:cNvSpPr txBox="1"/>
          <p:nvPr/>
        </p:nvSpPr>
        <p:spPr>
          <a:xfrm>
            <a:off x="82296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Problem and the solution at a glance</a:t>
            </a:r>
            <a:endParaRPr lang="en-US" sz="1400" dirty="0"/>
          </a:p>
        </p:txBody>
      </p:sp>
      <p:sp>
        <p:nvSpPr>
          <p:cNvPr id="10" name="card"/>
          <p:cNvSpPr/>
          <p:nvPr/>
        </p:nvSpPr>
        <p:spPr>
          <a:xfrm>
            <a:off x="4297680" y="1463040"/>
            <a:ext cx="3474720" cy="2103120"/>
          </a:xfrm>
          <a:prstGeom prst="roundRect">
            <a:avLst>
              <a:gd name="adj" fmla="val 3478"/>
            </a:avLst>
          </a:prstGeom>
          <a:solidFill>
            <a:schemeClr val="bg2"/>
          </a:solidFill>
          <a:ln/>
        </p:spPr>
      </p:sp>
      <p:sp>
        <p:nvSpPr>
          <p:cNvPr id="11" name="icon bg FaFileExcel"/>
          <p:cNvSpPr/>
          <p:nvPr/>
        </p:nvSpPr>
        <p:spPr>
          <a:xfrm>
            <a:off x="4572000" y="1737360"/>
            <a:ext cx="685800" cy="685800"/>
          </a:xfrm>
          <a:prstGeom prst="ellipse">
            <a:avLst/>
          </a:prstGeom>
          <a:solidFill>
            <a:schemeClr val="accent1"/>
          </a:solidFill>
          <a:ln/>
        </p:spPr>
      </p:sp>
      <p:pic>
        <p:nvPicPr>
          <p:cNvPr id="12" name="icon FaFileExcel" descr="preencoded.png">    </p:cNvPr>
          <p:cNvPicPr>
            <a:picLocks noChangeAspect="1"/>
          </p:cNvPicPr>
          <p:nvPr/>
        </p:nvPicPr>
        <p:blipFill>
          <a:blip r:embed="rId2"/>
          <a:stretch>
            <a:fillRect/>
          </a:stretch>
        </p:blipFill>
        <p:spPr>
          <a:xfrm>
            <a:off x="4743450" y="1908810"/>
            <a:ext cx="342900" cy="342900"/>
          </a:xfrm>
          <a:prstGeom prst="rect">
            <a:avLst/>
          </a:prstGeom>
        </p:spPr>
      </p:pic>
      <p:sp>
        <p:nvSpPr>
          <p:cNvPr id="13" name="Text 8"/>
          <p:cNvSpPr txBox="1"/>
          <p:nvPr/>
        </p:nvSpPr>
        <p:spPr>
          <a:xfrm>
            <a:off x="685800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02</a:t>
            </a:r>
            <a:endParaRPr lang="en-US" sz="2400" dirty="0"/>
          </a:p>
        </p:txBody>
      </p:sp>
      <p:sp>
        <p:nvSpPr>
          <p:cNvPr id="14" name="Text 9"/>
          <p:cNvSpPr txBox="1"/>
          <p:nvPr/>
        </p:nvSpPr>
        <p:spPr>
          <a:xfrm>
            <a:off x="457200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Selection screen and template</a:t>
            </a:r>
            <a:endParaRPr lang="en-US" sz="1800" dirty="0"/>
          </a:p>
        </p:txBody>
      </p:sp>
      <p:sp>
        <p:nvSpPr>
          <p:cNvPr id="15" name="Text 10"/>
          <p:cNvSpPr txBox="1"/>
          <p:nvPr/>
        </p:nvSpPr>
        <p:spPr>
          <a:xfrm>
            <a:off x="457200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How users start a run</a:t>
            </a:r>
            <a:endParaRPr lang="en-US" sz="1400" dirty="0"/>
          </a:p>
        </p:txBody>
      </p:sp>
      <p:sp>
        <p:nvSpPr>
          <p:cNvPr id="16" name="card"/>
          <p:cNvSpPr/>
          <p:nvPr/>
        </p:nvSpPr>
        <p:spPr>
          <a:xfrm>
            <a:off x="8046720" y="1463040"/>
            <a:ext cx="3474720" cy="2103120"/>
          </a:xfrm>
          <a:prstGeom prst="roundRect">
            <a:avLst>
              <a:gd name="adj" fmla="val 3478"/>
            </a:avLst>
          </a:prstGeom>
          <a:solidFill>
            <a:schemeClr val="bg2"/>
          </a:solidFill>
          <a:ln/>
        </p:spPr>
      </p:sp>
      <p:sp>
        <p:nvSpPr>
          <p:cNvPr id="17" name="icon bg FaCogs"/>
          <p:cNvSpPr/>
          <p:nvPr/>
        </p:nvSpPr>
        <p:spPr>
          <a:xfrm>
            <a:off x="8321040" y="1737360"/>
            <a:ext cx="685800" cy="685800"/>
          </a:xfrm>
          <a:prstGeom prst="ellipse">
            <a:avLst/>
          </a:prstGeom>
          <a:solidFill>
            <a:schemeClr val="accent1"/>
          </a:solidFill>
          <a:ln/>
        </p:spPr>
      </p:sp>
      <p:pic>
        <p:nvPicPr>
          <p:cNvPr id="18" name="icon FaCogs" descr="preencoded.png">    </p:cNvPr>
          <p:cNvPicPr>
            <a:picLocks noChangeAspect="1"/>
          </p:cNvPicPr>
          <p:nvPr/>
        </p:nvPicPr>
        <p:blipFill>
          <a:blip r:embed="rId3"/>
          <a:stretch>
            <a:fillRect/>
          </a:stretch>
        </p:blipFill>
        <p:spPr>
          <a:xfrm>
            <a:off x="8492490" y="1908810"/>
            <a:ext cx="342900" cy="342900"/>
          </a:xfrm>
          <a:prstGeom prst="rect">
            <a:avLst/>
          </a:prstGeom>
        </p:spPr>
      </p:pic>
      <p:sp>
        <p:nvSpPr>
          <p:cNvPr id="19" name="Text 13"/>
          <p:cNvSpPr txBox="1"/>
          <p:nvPr/>
        </p:nvSpPr>
        <p:spPr>
          <a:xfrm>
            <a:off x="10607040" y="173736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03</a:t>
            </a:r>
            <a:endParaRPr lang="en-US" sz="2400" dirty="0"/>
          </a:p>
        </p:txBody>
      </p:sp>
      <p:sp>
        <p:nvSpPr>
          <p:cNvPr id="20" name="Text 14"/>
          <p:cNvSpPr txBox="1"/>
          <p:nvPr/>
        </p:nvSpPr>
        <p:spPr>
          <a:xfrm>
            <a:off x="8321040" y="2560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Create / Update / Extend</a:t>
            </a:r>
            <a:endParaRPr lang="en-US" sz="1800" dirty="0"/>
          </a:p>
        </p:txBody>
      </p:sp>
      <p:sp>
        <p:nvSpPr>
          <p:cNvPr id="21" name="Text 15"/>
          <p:cNvSpPr txBox="1"/>
          <p:nvPr/>
        </p:nvSpPr>
        <p:spPr>
          <a:xfrm>
            <a:off x="8321040" y="297180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The three operations in detail</a:t>
            </a:r>
            <a:endParaRPr lang="en-US" sz="1400" dirty="0"/>
          </a:p>
        </p:txBody>
      </p:sp>
      <p:sp>
        <p:nvSpPr>
          <p:cNvPr id="22" name="card"/>
          <p:cNvSpPr/>
          <p:nvPr/>
        </p:nvSpPr>
        <p:spPr>
          <a:xfrm>
            <a:off x="2423160" y="3840480"/>
            <a:ext cx="3474720" cy="2103120"/>
          </a:xfrm>
          <a:prstGeom prst="roundRect">
            <a:avLst>
              <a:gd name="adj" fmla="val 3478"/>
            </a:avLst>
          </a:prstGeom>
          <a:solidFill>
            <a:schemeClr val="bg2"/>
          </a:solidFill>
          <a:ln/>
        </p:spPr>
      </p:sp>
      <p:sp>
        <p:nvSpPr>
          <p:cNvPr id="23" name="icon bg FaListAlt"/>
          <p:cNvSpPr/>
          <p:nvPr/>
        </p:nvSpPr>
        <p:spPr>
          <a:xfrm>
            <a:off x="2697480" y="4114800"/>
            <a:ext cx="685800" cy="685800"/>
          </a:xfrm>
          <a:prstGeom prst="ellipse">
            <a:avLst/>
          </a:prstGeom>
          <a:solidFill>
            <a:schemeClr val="accent1"/>
          </a:solidFill>
          <a:ln/>
        </p:spPr>
      </p:sp>
      <p:pic>
        <p:nvPicPr>
          <p:cNvPr id="24" name="icon FaListAlt" descr="preencoded.png">    </p:cNvPr>
          <p:cNvPicPr>
            <a:picLocks noChangeAspect="1"/>
          </p:cNvPicPr>
          <p:nvPr/>
        </p:nvPicPr>
        <p:blipFill>
          <a:blip r:embed="rId4"/>
          <a:stretch>
            <a:fillRect/>
          </a:stretch>
        </p:blipFill>
        <p:spPr>
          <a:xfrm>
            <a:off x="2868930" y="4286250"/>
            <a:ext cx="342900" cy="342900"/>
          </a:xfrm>
          <a:prstGeom prst="rect">
            <a:avLst/>
          </a:prstGeom>
        </p:spPr>
      </p:pic>
      <p:sp>
        <p:nvSpPr>
          <p:cNvPr id="25" name="Text 18"/>
          <p:cNvSpPr txBox="1"/>
          <p:nvPr/>
        </p:nvSpPr>
        <p:spPr>
          <a:xfrm>
            <a:off x="4983480" y="41148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04</a:t>
            </a:r>
            <a:endParaRPr lang="en-US" sz="2400" dirty="0"/>
          </a:p>
        </p:txBody>
      </p:sp>
      <p:sp>
        <p:nvSpPr>
          <p:cNvPr id="26" name="Text 19"/>
          <p:cNvSpPr txBox="1"/>
          <p:nvPr/>
        </p:nvSpPr>
        <p:spPr>
          <a:xfrm>
            <a:off x="2697480" y="49377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Run and results</a:t>
            </a:r>
            <a:endParaRPr lang="en-US" sz="1800" dirty="0"/>
          </a:p>
        </p:txBody>
      </p:sp>
      <p:sp>
        <p:nvSpPr>
          <p:cNvPr id="27" name="Text 20"/>
          <p:cNvSpPr txBox="1"/>
          <p:nvPr/>
        </p:nvSpPr>
        <p:spPr>
          <a:xfrm>
            <a:off x="2697480" y="534924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Test run, ALV, result file, e-mail</a:t>
            </a:r>
            <a:endParaRPr lang="en-US" sz="1400" dirty="0"/>
          </a:p>
        </p:txBody>
      </p:sp>
      <p:sp>
        <p:nvSpPr>
          <p:cNvPr id="28" name="card"/>
          <p:cNvSpPr/>
          <p:nvPr/>
        </p:nvSpPr>
        <p:spPr>
          <a:xfrm>
            <a:off x="6172200" y="3840480"/>
            <a:ext cx="3474720" cy="2103120"/>
          </a:xfrm>
          <a:prstGeom prst="roundRect">
            <a:avLst>
              <a:gd name="adj" fmla="val 3478"/>
            </a:avLst>
          </a:prstGeom>
          <a:solidFill>
            <a:schemeClr val="bg2"/>
          </a:solidFill>
          <a:ln/>
        </p:spPr>
      </p:sp>
      <p:sp>
        <p:nvSpPr>
          <p:cNvPr id="29" name="icon bg FaShieldAlt"/>
          <p:cNvSpPr/>
          <p:nvPr/>
        </p:nvSpPr>
        <p:spPr>
          <a:xfrm>
            <a:off x="6446520" y="4114800"/>
            <a:ext cx="685800" cy="685800"/>
          </a:xfrm>
          <a:prstGeom prst="ellipse">
            <a:avLst/>
          </a:prstGeom>
          <a:solidFill>
            <a:schemeClr val="accent1"/>
          </a:solidFill>
          <a:ln/>
        </p:spPr>
      </p:sp>
      <p:pic>
        <p:nvPicPr>
          <p:cNvPr id="30" name="icon FaShieldAlt" descr="preencoded.png">    </p:cNvPr>
          <p:cNvPicPr>
            <a:picLocks noChangeAspect="1"/>
          </p:cNvPicPr>
          <p:nvPr/>
        </p:nvPicPr>
        <p:blipFill>
          <a:blip r:embed="rId5"/>
          <a:stretch>
            <a:fillRect/>
          </a:stretch>
        </p:blipFill>
        <p:spPr>
          <a:xfrm>
            <a:off x="6617970" y="4286250"/>
            <a:ext cx="342900" cy="342900"/>
          </a:xfrm>
          <a:prstGeom prst="rect">
            <a:avLst/>
          </a:prstGeom>
        </p:spPr>
      </p:pic>
      <p:sp>
        <p:nvSpPr>
          <p:cNvPr id="31" name="Text 23"/>
          <p:cNvSpPr txBox="1"/>
          <p:nvPr/>
        </p:nvSpPr>
        <p:spPr>
          <a:xfrm>
            <a:off x="8732520" y="4114800"/>
            <a:ext cx="731520" cy="457200"/>
          </a:xfrm>
          <a:prstGeom prst="rect">
            <a:avLst/>
          </a:prstGeom>
          <a:noFill/>
          <a:ln/>
        </p:spPr>
        <p:txBody>
          <a:bodyPr wrap="square" lIns="0" tIns="0" rIns="0" bIns="0" rtlCol="0" anchor="t"/>
          <a:lstStyle/>
          <a:p>
            <a:pPr algn="r" indent="0" marL="0">
              <a:buNone/>
            </a:pPr>
            <a:r>
              <a:rPr lang="en-US" sz="2400" b="1" dirty="0">
                <a:solidFill>
                  <a:schemeClr val="accent2"/>
                </a:solidFill>
                <a:latin typeface="Cambria" pitchFamily="34" charset="0"/>
                <a:ea typeface="Cambria" pitchFamily="34" charset="-122"/>
                <a:cs typeface="Cambria" pitchFamily="34" charset="-120"/>
              </a:rPr>
              <a:t>05</a:t>
            </a:r>
            <a:endParaRPr lang="en-US" sz="2400" dirty="0"/>
          </a:p>
        </p:txBody>
      </p:sp>
      <p:sp>
        <p:nvSpPr>
          <p:cNvPr id="32" name="Text 24"/>
          <p:cNvSpPr txBox="1"/>
          <p:nvPr/>
        </p:nvSpPr>
        <p:spPr>
          <a:xfrm>
            <a:off x="6446520" y="49377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Safeguards and deliverables</a:t>
            </a:r>
            <a:endParaRPr lang="en-US" sz="1800" dirty="0"/>
          </a:p>
        </p:txBody>
      </p:sp>
      <p:sp>
        <p:nvSpPr>
          <p:cNvPr id="33" name="Text 25"/>
          <p:cNvSpPr txBox="1"/>
          <p:nvPr/>
        </p:nvSpPr>
        <p:spPr>
          <a:xfrm>
            <a:off x="6446520" y="5349240"/>
            <a:ext cx="3017520" cy="457200"/>
          </a:xfrm>
          <a:prstGeom prst="rect">
            <a:avLst/>
          </a:prstGeom>
          <a:noFill/>
          <a:ln/>
        </p:spPr>
        <p:txBody>
          <a:bodyPr wrap="square" lIns="0" tIns="0" rIns="0" bIns="0" rtlCol="0" anchor="t"/>
          <a:lstStyle/>
          <a:p>
            <a:pPr indent="0" marL="0">
              <a:buNone/>
            </a:pPr>
            <a:r>
              <a:rPr lang="en-US" sz="1400" dirty="0">
                <a:solidFill>
                  <a:schemeClr val="accent5"/>
                </a:solidFill>
              </a:rPr>
              <a:t>Limits, number protection, documentation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From one-by-one maintenance to one controlled upload</a:t>
            </a:r>
            <a:endParaRPr lang="en-US" sz="3200" dirty="0"/>
          </a:p>
        </p:txBody>
      </p:sp>
      <p:sp>
        <p:nvSpPr>
          <p:cNvPr id="4" name="card"/>
          <p:cNvSpPr/>
          <p:nvPr/>
        </p:nvSpPr>
        <p:spPr>
          <a:xfrm>
            <a:off x="548640" y="1371600"/>
            <a:ext cx="5394960" cy="4754880"/>
          </a:xfrm>
          <a:prstGeom prst="roundRect">
            <a:avLst>
              <a:gd name="adj" fmla="val 1538"/>
            </a:avLst>
          </a:prstGeom>
          <a:solidFill>
            <a:schemeClr val="bg2"/>
          </a:solidFill>
          <a:ln/>
        </p:spPr>
      </p:sp>
      <p:sp>
        <p:nvSpPr>
          <p:cNvPr id="5" name="card"/>
          <p:cNvSpPr/>
          <p:nvPr/>
        </p:nvSpPr>
        <p:spPr>
          <a:xfrm>
            <a:off x="6263640" y="1371600"/>
            <a:ext cx="5394960" cy="4754880"/>
          </a:xfrm>
          <a:prstGeom prst="roundRect">
            <a:avLst>
              <a:gd name="adj" fmla="val 1538"/>
            </a:avLst>
          </a:prstGeom>
          <a:solidFill>
            <a:schemeClr val="bg2"/>
          </a:solidFill>
          <a:ln/>
        </p:spPr>
      </p:sp>
      <p:sp>
        <p:nvSpPr>
          <p:cNvPr id="6" name="icon bg FaHourglassHalf"/>
          <p:cNvSpPr/>
          <p:nvPr/>
        </p:nvSpPr>
        <p:spPr>
          <a:xfrm>
            <a:off x="822960" y="1645920"/>
            <a:ext cx="640080" cy="640080"/>
          </a:xfrm>
          <a:prstGeom prst="ellipse">
            <a:avLst/>
          </a:prstGeom>
          <a:solidFill>
            <a:schemeClr val="accent5"/>
          </a:solidFill>
          <a:ln/>
        </p:spPr>
      </p:sp>
      <p:pic>
        <p:nvPicPr>
          <p:cNvPr id="7" name="icon FaHourglassHalf"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8" name="Text 4"/>
          <p:cNvSpPr txBox="1"/>
          <p:nvPr/>
        </p:nvSpPr>
        <p:spPr>
          <a:xfrm>
            <a:off x="1645920" y="1691640"/>
            <a:ext cx="4114800" cy="548640"/>
          </a:xfrm>
          <a:prstGeom prst="rect">
            <a:avLst/>
          </a:prstGeom>
          <a:noFill/>
          <a:ln/>
        </p:spPr>
        <p:txBody>
          <a:bodyPr wrap="square" lIns="0" tIns="0" rIns="0" bIns="0" rtlCol="0" anchor="ctr"/>
          <a:lstStyle/>
          <a:p>
            <a:pPr indent="0" marL="0">
              <a:buNone/>
            </a:pPr>
            <a:r>
              <a:rPr lang="en-US" sz="2200" b="1" dirty="0">
                <a:solidFill>
                  <a:schemeClr val="accent5"/>
                </a:solidFill>
              </a:rPr>
              <a:t>Without the tool</a:t>
            </a:r>
            <a:endParaRPr lang="en-US" sz="2200" dirty="0"/>
          </a:p>
        </p:txBody>
      </p:sp>
      <p:sp>
        <p:nvSpPr>
          <p:cNvPr id="9" name="Text 5"/>
          <p:cNvSpPr txBox="1"/>
          <p:nvPr/>
        </p:nvSpPr>
        <p:spPr>
          <a:xfrm>
            <a:off x="822960" y="2560320"/>
            <a:ext cx="4846320" cy="33832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Materials created and changed one at a time in MM01 / MM02</a:t>
            </a:r>
            <a:endParaRPr lang="en-US" sz="1600" dirty="0"/>
          </a:p>
          <a:p>
            <a:pPr marL="203200" indent="-203200">
              <a:spcAft>
                <a:spcPts val="800"/>
              </a:spcAft>
              <a:buSzPct val="100000"/>
              <a:buChar char="•"/>
            </a:pPr>
            <a:r>
              <a:rPr lang="en-US" sz="1600" dirty="0">
                <a:solidFill>
                  <a:schemeClr val="tx1"/>
                </a:solidFill>
              </a:rPr>
              <a:t>Field rules depend on the person entering data</a:t>
            </a:r>
            <a:endParaRPr lang="en-US" sz="1600" dirty="0"/>
          </a:p>
          <a:p>
            <a:pPr marL="203200" indent="-203200">
              <a:spcAft>
                <a:spcPts val="800"/>
              </a:spcAft>
              <a:buSzPct val="100000"/>
              <a:buChar char="•"/>
            </a:pPr>
            <a:r>
              <a:rPr lang="en-US" sz="1600" dirty="0">
                <a:solidFill>
                  <a:schemeClr val="tx1"/>
                </a:solidFill>
              </a:rPr>
              <a:t>Errors found only after posting</a:t>
            </a:r>
            <a:endParaRPr lang="en-US" sz="1600" dirty="0"/>
          </a:p>
          <a:p>
            <a:pPr marL="203200" indent="-203200">
              <a:spcAft>
                <a:spcPts val="800"/>
              </a:spcAft>
              <a:buSzPct val="100000"/>
              <a:buChar char="•"/>
            </a:pPr>
            <a:r>
              <a:rPr lang="en-US" sz="1600" dirty="0">
                <a:solidFill>
                  <a:schemeClr val="tx1"/>
                </a:solidFill>
              </a:rPr>
              <a:t>Failed postings can waste material numbers</a:t>
            </a:r>
            <a:endParaRPr lang="en-US" sz="1600" dirty="0"/>
          </a:p>
          <a:p>
            <a:pPr marL="203200" indent="-203200">
              <a:spcAft>
                <a:spcPts val="800"/>
              </a:spcAft>
              <a:buSzPct val="100000"/>
              <a:buChar char="•"/>
            </a:pPr>
            <a:r>
              <a:rPr lang="en-US" sz="1600" dirty="0">
                <a:solidFill>
                  <a:schemeClr val="tx1"/>
                </a:solidFill>
              </a:rPr>
              <a:t>No single log of what was done</a:t>
            </a:r>
            <a:endParaRPr lang="en-US" sz="1600" dirty="0"/>
          </a:p>
        </p:txBody>
      </p:sp>
      <p:sp>
        <p:nvSpPr>
          <p:cNvPr id="10" name="icon bg FaRocket"/>
          <p:cNvSpPr/>
          <p:nvPr/>
        </p:nvSpPr>
        <p:spPr>
          <a:xfrm>
            <a:off x="6537960" y="1645920"/>
            <a:ext cx="640080" cy="640080"/>
          </a:xfrm>
          <a:prstGeom prst="ellipse">
            <a:avLst/>
          </a:prstGeom>
          <a:solidFill>
            <a:schemeClr val="accent1"/>
          </a:solidFill>
          <a:ln/>
        </p:spPr>
      </p:sp>
      <p:pic>
        <p:nvPicPr>
          <p:cNvPr id="11" name="icon FaRocket" descr="preencoded.png">    </p:cNvPr>
          <p:cNvPicPr>
            <a:picLocks noChangeAspect="1"/>
          </p:cNvPicPr>
          <p:nvPr/>
        </p:nvPicPr>
        <p:blipFill>
          <a:blip r:embed="rId2"/>
          <a:stretch>
            <a:fillRect/>
          </a:stretch>
        </p:blipFill>
        <p:spPr>
          <a:xfrm>
            <a:off x="6697980" y="1805940"/>
            <a:ext cx="320040" cy="320040"/>
          </a:xfrm>
          <a:prstGeom prst="rect">
            <a:avLst/>
          </a:prstGeom>
        </p:spPr>
      </p:pic>
      <p:sp>
        <p:nvSpPr>
          <p:cNvPr id="12" name="Text 7"/>
          <p:cNvSpPr txBox="1"/>
          <p:nvPr/>
        </p:nvSpPr>
        <p:spPr>
          <a:xfrm>
            <a:off x="7360920" y="1691640"/>
            <a:ext cx="4206240" cy="548640"/>
          </a:xfrm>
          <a:prstGeom prst="rect">
            <a:avLst/>
          </a:prstGeom>
          <a:noFill/>
          <a:ln/>
        </p:spPr>
        <p:txBody>
          <a:bodyPr wrap="square" lIns="0" tIns="0" rIns="0" bIns="0" rtlCol="0" anchor="ctr"/>
          <a:lstStyle/>
          <a:p>
            <a:pPr indent="0" marL="0">
              <a:buNone/>
            </a:pPr>
            <a:r>
              <a:rPr lang="en-US" sz="2200" b="1" dirty="0">
                <a:solidFill>
                  <a:schemeClr val="accent1"/>
                </a:solidFill>
              </a:rPr>
              <a:t>With ZMM_MATERIAL_MAINTENANCE</a:t>
            </a:r>
            <a:endParaRPr lang="en-US" sz="2200" dirty="0"/>
          </a:p>
        </p:txBody>
      </p:sp>
      <p:sp>
        <p:nvSpPr>
          <p:cNvPr id="13" name="Text 8"/>
          <p:cNvSpPr txBox="1"/>
          <p:nvPr/>
        </p:nvSpPr>
        <p:spPr>
          <a:xfrm>
            <a:off x="6537960" y="2560320"/>
            <a:ext cx="4846320" cy="33832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Up to 2000 rows per file - Create, Update or Extend</a:t>
            </a:r>
            <a:endParaRPr lang="en-US" sz="1600" dirty="0"/>
          </a:p>
          <a:p>
            <a:pPr marL="203200" indent="-203200">
              <a:spcAft>
                <a:spcPts val="800"/>
              </a:spcAft>
              <a:buSzPct val="100000"/>
              <a:buChar char="•"/>
            </a:pPr>
            <a:r>
              <a:rPr lang="en-US" sz="1600" dirty="0">
                <a:solidFill>
                  <a:schemeClr val="tx1"/>
                </a:solidFill>
              </a:rPr>
              <a:t>Mandatory fields, defaults and rules come from configuration tables</a:t>
            </a:r>
            <a:endParaRPr lang="en-US" sz="1600" dirty="0"/>
          </a:p>
          <a:p>
            <a:pPr marL="203200" indent="-203200">
              <a:spcAft>
                <a:spcPts val="800"/>
              </a:spcAft>
              <a:buSzPct val="100000"/>
              <a:buChar char="•"/>
            </a:pPr>
            <a:r>
              <a:rPr lang="en-US" sz="1600" dirty="0">
                <a:solidFill>
                  <a:schemeClr val="tx1"/>
                </a:solidFill>
              </a:rPr>
              <a:t>Every row is simulated before anything is saved</a:t>
            </a:r>
            <a:endParaRPr lang="en-US" sz="1600" dirty="0"/>
          </a:p>
          <a:p>
            <a:pPr marL="203200" indent="-203200">
              <a:spcAft>
                <a:spcPts val="800"/>
              </a:spcAft>
              <a:buSzPct val="100000"/>
              <a:buChar char="•"/>
            </a:pPr>
            <a:r>
              <a:rPr lang="en-US" sz="1600" dirty="0">
                <a:solidFill>
                  <a:schemeClr val="tx1"/>
                </a:solidFill>
              </a:rPr>
              <a:t>Number drawn only after a successful simulation</a:t>
            </a:r>
            <a:endParaRPr lang="en-US" sz="1600" dirty="0"/>
          </a:p>
          <a:p>
            <a:pPr marL="203200" indent="-203200">
              <a:spcAft>
                <a:spcPts val="800"/>
              </a:spcAft>
              <a:buSzPct val="100000"/>
              <a:buChar char="•"/>
            </a:pPr>
            <a:r>
              <a:rPr lang="en-US" sz="1600" dirty="0">
                <a:solidFill>
                  <a:schemeClr val="tx1"/>
                </a:solidFill>
              </a:rPr>
              <a:t>ALV log, result Excel file on the server and e-mail</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program, three operations</a:t>
            </a:r>
            <a:endParaRPr lang="en-US" sz="3200" dirty="0"/>
          </a:p>
        </p:txBody>
      </p:sp>
      <p:sp>
        <p:nvSpPr>
          <p:cNvPr id="4" name="card"/>
          <p:cNvSpPr/>
          <p:nvPr/>
        </p:nvSpPr>
        <p:spPr>
          <a:xfrm>
            <a:off x="548640" y="1417320"/>
            <a:ext cx="3474720" cy="4663440"/>
          </a:xfrm>
          <a:prstGeom prst="roundRect">
            <a:avLst>
              <a:gd name="adj" fmla="val 2105"/>
            </a:avLst>
          </a:prstGeom>
          <a:solidFill>
            <a:schemeClr val="bg2"/>
          </a:solidFill>
          <a:ln/>
        </p:spPr>
      </p:sp>
      <p:sp>
        <p:nvSpPr>
          <p:cNvPr id="5" name="icon bg FaPlusCircle"/>
          <p:cNvSpPr/>
          <p:nvPr/>
        </p:nvSpPr>
        <p:spPr>
          <a:xfrm>
            <a:off x="1874520" y="1737360"/>
            <a:ext cx="822960" cy="822960"/>
          </a:xfrm>
          <a:prstGeom prst="ellipse">
            <a:avLst/>
          </a:prstGeom>
          <a:solidFill>
            <a:schemeClr val="accent1"/>
          </a:solidFill>
          <a:ln/>
        </p:spPr>
      </p:sp>
      <p:pic>
        <p:nvPicPr>
          <p:cNvPr id="6" name="icon FaPlusCircle" descr="preencoded.png">    </p:cNvPr>
          <p:cNvPicPr>
            <a:picLocks noChangeAspect="1"/>
          </p:cNvPicPr>
          <p:nvPr/>
        </p:nvPicPr>
        <p:blipFill>
          <a:blip r:embed="rId1"/>
          <a:stretch>
            <a:fillRect/>
          </a:stretch>
        </p:blipFill>
        <p:spPr>
          <a:xfrm>
            <a:off x="2080260" y="1943100"/>
            <a:ext cx="411480" cy="411480"/>
          </a:xfrm>
          <a:prstGeom prst="rect">
            <a:avLst/>
          </a:prstGeom>
        </p:spPr>
      </p:pic>
      <p:sp>
        <p:nvSpPr>
          <p:cNvPr id="7" name="Text 3"/>
          <p:cNvSpPr txBox="1"/>
          <p:nvPr/>
        </p:nvSpPr>
        <p:spPr>
          <a:xfrm>
            <a:off x="54864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CREATE</a:t>
            </a:r>
            <a:endParaRPr lang="en-US" sz="2600" dirty="0"/>
          </a:p>
        </p:txBody>
      </p:sp>
      <p:sp>
        <p:nvSpPr>
          <p:cNvPr id="8" name="Text 4"/>
          <p:cNvSpPr txBox="1"/>
          <p:nvPr/>
        </p:nvSpPr>
        <p:spPr>
          <a:xfrm>
            <a:off x="54864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C / CREATE</a:t>
            </a:r>
            <a:endParaRPr lang="en-US" sz="1400" dirty="0"/>
          </a:p>
        </p:txBody>
      </p:sp>
      <p:sp>
        <p:nvSpPr>
          <p:cNvPr id="9" name="Text 5"/>
          <p:cNvSpPr txBox="1"/>
          <p:nvPr/>
        </p:nvSpPr>
        <p:spPr>
          <a:xfrm>
            <a:off x="86868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New materials with internal or external numbers</a:t>
            </a:r>
            <a:endParaRPr lang="en-US" sz="1500" dirty="0"/>
          </a:p>
          <a:p>
            <a:pPr marL="203200" indent="-203200">
              <a:spcAft>
                <a:spcPts val="800"/>
              </a:spcAft>
              <a:buSzPct val="100000"/>
              <a:buChar char="•"/>
            </a:pPr>
            <a:r>
              <a:rPr lang="en-US" sz="1500" dirty="0">
                <a:solidFill>
                  <a:schemeClr val="tx1"/>
                </a:solidFill>
              </a:rPr>
              <a:t>Copy views from a reference material</a:t>
            </a:r>
            <a:endParaRPr lang="en-US" sz="1500" dirty="0"/>
          </a:p>
          <a:p>
            <a:pPr marL="203200" indent="-203200">
              <a:spcAft>
                <a:spcPts val="800"/>
              </a:spcAft>
              <a:buSzPct val="100000"/>
              <a:buChar char="•"/>
            </a:pPr>
            <a:r>
              <a:rPr lang="en-US" sz="1500" dirty="0">
                <a:solidFill>
                  <a:schemeClr val="tx1"/>
                </a:solidFill>
              </a:rPr>
              <a:t>Defaults filled from configuration</a:t>
            </a:r>
            <a:endParaRPr lang="en-US" sz="1500" dirty="0"/>
          </a:p>
        </p:txBody>
      </p:sp>
      <p:sp>
        <p:nvSpPr>
          <p:cNvPr id="10" name="card"/>
          <p:cNvSpPr/>
          <p:nvPr/>
        </p:nvSpPr>
        <p:spPr>
          <a:xfrm>
            <a:off x="4297680" y="1417320"/>
            <a:ext cx="3474720" cy="4663440"/>
          </a:xfrm>
          <a:prstGeom prst="roundRect">
            <a:avLst>
              <a:gd name="adj" fmla="val 2105"/>
            </a:avLst>
          </a:prstGeom>
          <a:solidFill>
            <a:schemeClr val="bg2"/>
          </a:solidFill>
          <a:ln/>
        </p:spPr>
      </p:sp>
      <p:sp>
        <p:nvSpPr>
          <p:cNvPr id="11" name="icon bg FaEdit"/>
          <p:cNvSpPr/>
          <p:nvPr/>
        </p:nvSpPr>
        <p:spPr>
          <a:xfrm>
            <a:off x="5623560" y="1737360"/>
            <a:ext cx="822960" cy="822960"/>
          </a:xfrm>
          <a:prstGeom prst="ellipse">
            <a:avLst/>
          </a:prstGeom>
          <a:solidFill>
            <a:schemeClr val="accent2"/>
          </a:solidFill>
          <a:ln/>
        </p:spPr>
      </p:sp>
      <p:pic>
        <p:nvPicPr>
          <p:cNvPr id="12" name="icon FaEdit" descr="preencoded.png">    </p:cNvPr>
          <p:cNvPicPr>
            <a:picLocks noChangeAspect="1"/>
          </p:cNvPicPr>
          <p:nvPr/>
        </p:nvPicPr>
        <p:blipFill>
          <a:blip r:embed="rId2"/>
          <a:stretch>
            <a:fillRect/>
          </a:stretch>
        </p:blipFill>
        <p:spPr>
          <a:xfrm>
            <a:off x="5829300" y="1943100"/>
            <a:ext cx="411480" cy="411480"/>
          </a:xfrm>
          <a:prstGeom prst="rect">
            <a:avLst/>
          </a:prstGeom>
        </p:spPr>
      </p:pic>
      <p:sp>
        <p:nvSpPr>
          <p:cNvPr id="13" name="Text 8"/>
          <p:cNvSpPr txBox="1"/>
          <p:nvPr/>
        </p:nvSpPr>
        <p:spPr>
          <a:xfrm>
            <a:off x="429768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UPDATE</a:t>
            </a:r>
            <a:endParaRPr lang="en-US" sz="2600" dirty="0"/>
          </a:p>
        </p:txBody>
      </p:sp>
      <p:sp>
        <p:nvSpPr>
          <p:cNvPr id="14" name="Text 9"/>
          <p:cNvSpPr txBox="1"/>
          <p:nvPr/>
        </p:nvSpPr>
        <p:spPr>
          <a:xfrm>
            <a:off x="429768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U / UPDATE / CHANGE</a:t>
            </a:r>
            <a:endParaRPr lang="en-US" sz="1400" dirty="0"/>
          </a:p>
        </p:txBody>
      </p:sp>
      <p:sp>
        <p:nvSpPr>
          <p:cNvPr id="15" name="Text 10"/>
          <p:cNvSpPr txBox="1"/>
          <p:nvPr/>
        </p:nvSpPr>
        <p:spPr>
          <a:xfrm>
            <a:off x="461772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Change existing materials</a:t>
            </a:r>
            <a:endParaRPr lang="en-US" sz="1500" dirty="0"/>
          </a:p>
          <a:p>
            <a:pPr marL="203200" indent="-203200">
              <a:spcAft>
                <a:spcPts val="800"/>
              </a:spcAft>
              <a:buSzPct val="100000"/>
              <a:buChar char="•"/>
            </a:pPr>
            <a:r>
              <a:rPr lang="en-US" sz="1500" dirty="0">
                <a:solidFill>
                  <a:schemeClr val="tx1"/>
                </a:solidFill>
              </a:rPr>
              <a:t>Only filled cells are sent</a:t>
            </a:r>
            <a:endParaRPr lang="en-US" sz="1500" dirty="0"/>
          </a:p>
          <a:p>
            <a:pPr marL="203200" indent="-203200">
              <a:spcAft>
                <a:spcPts val="800"/>
              </a:spcAft>
              <a:buSzPct val="100000"/>
              <a:buChar char="•"/>
            </a:pPr>
            <a:r>
              <a:rPr lang="en-US" sz="1500" dirty="0">
                <a:solidFill>
                  <a:schemeClr val="tx1"/>
                </a:solidFill>
              </a:rPr>
              <a:t>An empty cell never clears a field</a:t>
            </a:r>
            <a:endParaRPr lang="en-US" sz="1500" dirty="0"/>
          </a:p>
        </p:txBody>
      </p:sp>
      <p:sp>
        <p:nvSpPr>
          <p:cNvPr id="16" name="card"/>
          <p:cNvSpPr/>
          <p:nvPr/>
        </p:nvSpPr>
        <p:spPr>
          <a:xfrm>
            <a:off x="8046720" y="1417320"/>
            <a:ext cx="3474720" cy="4663440"/>
          </a:xfrm>
          <a:prstGeom prst="roundRect">
            <a:avLst>
              <a:gd name="adj" fmla="val 2105"/>
            </a:avLst>
          </a:prstGeom>
          <a:solidFill>
            <a:schemeClr val="bg2"/>
          </a:solidFill>
          <a:ln/>
        </p:spPr>
      </p:sp>
      <p:sp>
        <p:nvSpPr>
          <p:cNvPr id="17" name="icon bg FaSitemap"/>
          <p:cNvSpPr/>
          <p:nvPr/>
        </p:nvSpPr>
        <p:spPr>
          <a:xfrm>
            <a:off x="9372600" y="1737360"/>
            <a:ext cx="822960" cy="822960"/>
          </a:xfrm>
          <a:prstGeom prst="ellipse">
            <a:avLst/>
          </a:prstGeom>
          <a:solidFill>
            <a:schemeClr val="accent4"/>
          </a:solidFill>
          <a:ln/>
        </p:spPr>
      </p:sp>
      <p:pic>
        <p:nvPicPr>
          <p:cNvPr id="18" name="icon FaSitemap" descr="preencoded.png">    </p:cNvPr>
          <p:cNvPicPr>
            <a:picLocks noChangeAspect="1"/>
          </p:cNvPicPr>
          <p:nvPr/>
        </p:nvPicPr>
        <p:blipFill>
          <a:blip r:embed="rId3"/>
          <a:stretch>
            <a:fillRect/>
          </a:stretch>
        </p:blipFill>
        <p:spPr>
          <a:xfrm>
            <a:off x="9578340" y="1943100"/>
            <a:ext cx="411480" cy="411480"/>
          </a:xfrm>
          <a:prstGeom prst="rect">
            <a:avLst/>
          </a:prstGeom>
        </p:spPr>
      </p:pic>
      <p:sp>
        <p:nvSpPr>
          <p:cNvPr id="19" name="Text 13"/>
          <p:cNvSpPr txBox="1"/>
          <p:nvPr/>
        </p:nvSpPr>
        <p:spPr>
          <a:xfrm>
            <a:off x="8046720" y="2697480"/>
            <a:ext cx="3474720" cy="502920"/>
          </a:xfrm>
          <a:prstGeom prst="rect">
            <a:avLst/>
          </a:prstGeom>
          <a:noFill/>
          <a:ln/>
        </p:spPr>
        <p:txBody>
          <a:bodyPr wrap="square" lIns="0" tIns="0" rIns="0" bIns="0" rtlCol="0" anchor="t"/>
          <a:lstStyle/>
          <a:p>
            <a:pPr algn="ctr" indent="0" marL="0">
              <a:buNone/>
            </a:pPr>
            <a:r>
              <a:rPr lang="en-US" sz="2600" b="1" dirty="0">
                <a:solidFill>
                  <a:schemeClr val="tx2"/>
                </a:solidFill>
                <a:latin typeface="Cambria" pitchFamily="34" charset="0"/>
                <a:ea typeface="Cambria" pitchFamily="34" charset="-122"/>
                <a:cs typeface="Cambria" pitchFamily="34" charset="-120"/>
              </a:rPr>
              <a:t>EXTEND</a:t>
            </a:r>
            <a:endParaRPr lang="en-US" sz="2600" dirty="0"/>
          </a:p>
        </p:txBody>
      </p:sp>
      <p:sp>
        <p:nvSpPr>
          <p:cNvPr id="20" name="Text 14"/>
          <p:cNvSpPr txBox="1"/>
          <p:nvPr/>
        </p:nvSpPr>
        <p:spPr>
          <a:xfrm>
            <a:off x="8046720" y="3200400"/>
            <a:ext cx="3474720" cy="365760"/>
          </a:xfrm>
          <a:prstGeom prst="rect">
            <a:avLst/>
          </a:prstGeom>
          <a:noFill/>
          <a:ln/>
        </p:spPr>
        <p:txBody>
          <a:bodyPr wrap="square" lIns="0" tIns="0" rIns="0" bIns="0" rtlCol="0" anchor="t"/>
          <a:lstStyle/>
          <a:p>
            <a:pPr algn="ctr" indent="0" marL="0">
              <a:buNone/>
            </a:pPr>
            <a:r>
              <a:rPr lang="en-US" sz="1400" dirty="0">
                <a:solidFill>
                  <a:schemeClr val="accent5"/>
                </a:solidFill>
                <a:latin typeface="Courier New" pitchFamily="34" charset="0"/>
                <a:ea typeface="Courier New" pitchFamily="34" charset="-122"/>
                <a:cs typeface="Courier New" pitchFamily="34" charset="-120"/>
              </a:rPr>
              <a:t>ACTION = E / EXTEND</a:t>
            </a:r>
            <a:endParaRPr lang="en-US" sz="1400" dirty="0"/>
          </a:p>
        </p:txBody>
      </p:sp>
      <p:sp>
        <p:nvSpPr>
          <p:cNvPr id="21" name="Text 15"/>
          <p:cNvSpPr txBox="1"/>
          <p:nvPr/>
        </p:nvSpPr>
        <p:spPr>
          <a:xfrm>
            <a:off x="8366760" y="3794760"/>
            <a:ext cx="292608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Add plants, storage locations, sales areas</a:t>
            </a:r>
            <a:endParaRPr lang="en-US" sz="1500" dirty="0"/>
          </a:p>
          <a:p>
            <a:pPr marL="203200" indent="-203200">
              <a:spcAft>
                <a:spcPts val="800"/>
              </a:spcAft>
              <a:buSzPct val="100000"/>
              <a:buChar char="•"/>
            </a:pPr>
            <a:r>
              <a:rPr lang="en-US" sz="1500" dirty="0">
                <a:solidFill>
                  <a:schemeClr val="tx1"/>
                </a:solidFill>
              </a:rPr>
              <a:t>Basic data is never changed</a:t>
            </a:r>
            <a:endParaRPr lang="en-US" sz="1500" dirty="0"/>
          </a:p>
          <a:p>
            <a:pPr marL="203200" indent="-203200">
              <a:spcAft>
                <a:spcPts val="800"/>
              </a:spcAft>
              <a:buSzPct val="100000"/>
              <a:buChar char="•"/>
            </a:pPr>
            <a:r>
              <a:rPr lang="en-US" sz="1500" dirty="0">
                <a:solidFill>
                  <a:schemeClr val="tx1"/>
                </a:solidFill>
              </a:rPr>
              <a:t>Optional copy from a reference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End-to-end flow</a:t>
            </a:r>
            <a:endParaRPr lang="en-US" sz="3200" dirty="0"/>
          </a:p>
        </p:txBody>
      </p:sp>
      <p:sp>
        <p:nvSpPr>
          <p:cNvPr id="4" name="card"/>
          <p:cNvSpPr/>
          <p:nvPr/>
        </p:nvSpPr>
        <p:spPr>
          <a:xfrm>
            <a:off x="548640" y="1828800"/>
            <a:ext cx="1645920" cy="3291840"/>
          </a:xfrm>
          <a:prstGeom prst="roundRect">
            <a:avLst>
              <a:gd name="adj" fmla="val 4444"/>
            </a:avLst>
          </a:prstGeom>
          <a:solidFill>
            <a:schemeClr val="bg2"/>
          </a:solidFill>
          <a:ln/>
        </p:spPr>
      </p:sp>
      <p:sp>
        <p:nvSpPr>
          <p:cNvPr id="5" name="icon bg FaSlidersH"/>
          <p:cNvSpPr/>
          <p:nvPr/>
        </p:nvSpPr>
        <p:spPr>
          <a:xfrm>
            <a:off x="1005840" y="2057400"/>
            <a:ext cx="731520" cy="731520"/>
          </a:xfrm>
          <a:prstGeom prst="ellipse">
            <a:avLst/>
          </a:prstGeom>
          <a:solidFill>
            <a:schemeClr val="accent1"/>
          </a:solidFill>
          <a:ln/>
        </p:spPr>
      </p:sp>
      <p:pic>
        <p:nvPicPr>
          <p:cNvPr id="6" name="icon FaSlidersH" descr="preencoded.png">    </p:cNvPr>
          <p:cNvPicPr>
            <a:picLocks noChangeAspect="1"/>
          </p:cNvPicPr>
          <p:nvPr/>
        </p:nvPicPr>
        <p:blipFill>
          <a:blip r:embed="rId1"/>
          <a:stretch>
            <a:fillRect/>
          </a:stretch>
        </p:blipFill>
        <p:spPr>
          <a:xfrm>
            <a:off x="1188720" y="2240280"/>
            <a:ext cx="365760" cy="365760"/>
          </a:xfrm>
          <a:prstGeom prst="rect">
            <a:avLst/>
          </a:prstGeom>
        </p:spPr>
      </p:pic>
      <p:sp>
        <p:nvSpPr>
          <p:cNvPr id="7" name="Text 3"/>
          <p:cNvSpPr txBox="1"/>
          <p:nvPr/>
        </p:nvSpPr>
        <p:spPr>
          <a:xfrm>
            <a:off x="640080"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Select</a:t>
            </a:r>
            <a:endParaRPr lang="en-US" sz="1700" dirty="0"/>
          </a:p>
        </p:txBody>
      </p:sp>
      <p:sp>
        <p:nvSpPr>
          <p:cNvPr id="8" name="Text 4"/>
          <p:cNvSpPr txBox="1"/>
          <p:nvPr/>
        </p:nvSpPr>
        <p:spPr>
          <a:xfrm>
            <a:off x="658368"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Operation, material type, industry sector, business profile, views</a:t>
            </a:r>
            <a:endParaRPr lang="en-US" sz="1300" dirty="0"/>
          </a:p>
        </p:txBody>
      </p:sp>
      <p:sp>
        <p:nvSpPr>
          <p:cNvPr id="9" name="arrow"/>
          <p:cNvSpPr/>
          <p:nvPr/>
        </p:nvSpPr>
        <p:spPr>
          <a:xfrm>
            <a:off x="2221992" y="3291840"/>
            <a:ext cx="182880" cy="292608"/>
          </a:xfrm>
          <a:prstGeom prst="rightArrow">
            <a:avLst/>
          </a:prstGeom>
          <a:solidFill>
            <a:schemeClr val="accent5"/>
          </a:solidFill>
          <a:ln/>
        </p:spPr>
      </p:sp>
      <p:sp>
        <p:nvSpPr>
          <p:cNvPr id="10" name="card"/>
          <p:cNvSpPr/>
          <p:nvPr/>
        </p:nvSpPr>
        <p:spPr>
          <a:xfrm>
            <a:off x="2432304" y="1828800"/>
            <a:ext cx="1645920" cy="3291840"/>
          </a:xfrm>
          <a:prstGeom prst="roundRect">
            <a:avLst>
              <a:gd name="adj" fmla="val 4444"/>
            </a:avLst>
          </a:prstGeom>
          <a:solidFill>
            <a:schemeClr val="bg2"/>
          </a:solidFill>
          <a:ln/>
        </p:spPr>
      </p:sp>
      <p:sp>
        <p:nvSpPr>
          <p:cNvPr id="11" name="icon bg FaUpload"/>
          <p:cNvSpPr/>
          <p:nvPr/>
        </p:nvSpPr>
        <p:spPr>
          <a:xfrm>
            <a:off x="2889504" y="2057400"/>
            <a:ext cx="731520" cy="731520"/>
          </a:xfrm>
          <a:prstGeom prst="ellipse">
            <a:avLst/>
          </a:prstGeom>
          <a:solidFill>
            <a:schemeClr val="accent1"/>
          </a:solidFill>
          <a:ln/>
        </p:spPr>
      </p:sp>
      <p:pic>
        <p:nvPicPr>
          <p:cNvPr id="12" name="icon FaUpload" descr="preencoded.png">    </p:cNvPr>
          <p:cNvPicPr>
            <a:picLocks noChangeAspect="1"/>
          </p:cNvPicPr>
          <p:nvPr/>
        </p:nvPicPr>
        <p:blipFill>
          <a:blip r:embed="rId2"/>
          <a:stretch>
            <a:fillRect/>
          </a:stretch>
        </p:blipFill>
        <p:spPr>
          <a:xfrm>
            <a:off x="3072384" y="2240280"/>
            <a:ext cx="365760" cy="365760"/>
          </a:xfrm>
          <a:prstGeom prst="rect">
            <a:avLst/>
          </a:prstGeom>
        </p:spPr>
      </p:pic>
      <p:sp>
        <p:nvSpPr>
          <p:cNvPr id="13" name="Text 8"/>
          <p:cNvSpPr txBox="1"/>
          <p:nvPr/>
        </p:nvSpPr>
        <p:spPr>
          <a:xfrm>
            <a:off x="2523744"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Upload</a:t>
            </a:r>
            <a:endParaRPr lang="en-US" sz="1700" dirty="0"/>
          </a:p>
        </p:txBody>
      </p:sp>
      <p:sp>
        <p:nvSpPr>
          <p:cNvPr id="14" name="Text 9"/>
          <p:cNvSpPr txBox="1"/>
          <p:nvPr/>
        </p:nvSpPr>
        <p:spPr>
          <a:xfrm>
            <a:off x="2542032"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Excel from local PC or application server</a:t>
            </a:r>
            <a:endParaRPr lang="en-US" sz="1300" dirty="0"/>
          </a:p>
        </p:txBody>
      </p:sp>
      <p:sp>
        <p:nvSpPr>
          <p:cNvPr id="15" name="arrow"/>
          <p:cNvSpPr/>
          <p:nvPr/>
        </p:nvSpPr>
        <p:spPr>
          <a:xfrm>
            <a:off x="4105656" y="3291840"/>
            <a:ext cx="182880" cy="292608"/>
          </a:xfrm>
          <a:prstGeom prst="rightArrow">
            <a:avLst/>
          </a:prstGeom>
          <a:solidFill>
            <a:schemeClr val="accent5"/>
          </a:solidFill>
          <a:ln/>
        </p:spPr>
      </p:sp>
      <p:sp>
        <p:nvSpPr>
          <p:cNvPr id="16" name="card"/>
          <p:cNvSpPr/>
          <p:nvPr/>
        </p:nvSpPr>
        <p:spPr>
          <a:xfrm>
            <a:off x="4315968" y="1828800"/>
            <a:ext cx="1645920" cy="3291840"/>
          </a:xfrm>
          <a:prstGeom prst="roundRect">
            <a:avLst>
              <a:gd name="adj" fmla="val 4444"/>
            </a:avLst>
          </a:prstGeom>
          <a:solidFill>
            <a:schemeClr val="bg2"/>
          </a:solidFill>
          <a:ln/>
        </p:spPr>
      </p:sp>
      <p:sp>
        <p:nvSpPr>
          <p:cNvPr id="17" name="icon bg FaDatabase"/>
          <p:cNvSpPr/>
          <p:nvPr/>
        </p:nvSpPr>
        <p:spPr>
          <a:xfrm>
            <a:off x="4773168" y="2057400"/>
            <a:ext cx="731520" cy="731520"/>
          </a:xfrm>
          <a:prstGeom prst="ellipse">
            <a:avLst/>
          </a:prstGeom>
          <a:solidFill>
            <a:schemeClr val="accent2"/>
          </a:solidFill>
          <a:ln/>
        </p:spPr>
      </p:sp>
      <p:pic>
        <p:nvPicPr>
          <p:cNvPr id="18" name="icon FaDatabase" descr="preencoded.png">    </p:cNvPr>
          <p:cNvPicPr>
            <a:picLocks noChangeAspect="1"/>
          </p:cNvPicPr>
          <p:nvPr/>
        </p:nvPicPr>
        <p:blipFill>
          <a:blip r:embed="rId3"/>
          <a:stretch>
            <a:fillRect/>
          </a:stretch>
        </p:blipFill>
        <p:spPr>
          <a:xfrm>
            <a:off x="4956048" y="2240280"/>
            <a:ext cx="365760" cy="365760"/>
          </a:xfrm>
          <a:prstGeom prst="rect">
            <a:avLst/>
          </a:prstGeom>
        </p:spPr>
      </p:pic>
      <p:sp>
        <p:nvSpPr>
          <p:cNvPr id="19" name="Text 13"/>
          <p:cNvSpPr txBox="1"/>
          <p:nvPr/>
        </p:nvSpPr>
        <p:spPr>
          <a:xfrm>
            <a:off x="4407408"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Configure</a:t>
            </a:r>
            <a:endParaRPr lang="en-US" sz="1700" dirty="0"/>
          </a:p>
        </p:txBody>
      </p:sp>
      <p:sp>
        <p:nvSpPr>
          <p:cNvPr id="20" name="Text 14"/>
          <p:cNvSpPr txBox="1"/>
          <p:nvPr/>
        </p:nvSpPr>
        <p:spPr>
          <a:xfrm>
            <a:off x="4425696"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Field rules for the selected variant</a:t>
            </a:r>
            <a:endParaRPr lang="en-US" sz="1300" dirty="0"/>
          </a:p>
        </p:txBody>
      </p:sp>
      <p:sp>
        <p:nvSpPr>
          <p:cNvPr id="21" name="arrow"/>
          <p:cNvSpPr/>
          <p:nvPr/>
        </p:nvSpPr>
        <p:spPr>
          <a:xfrm>
            <a:off x="5989320" y="3291840"/>
            <a:ext cx="182880" cy="292608"/>
          </a:xfrm>
          <a:prstGeom prst="rightArrow">
            <a:avLst/>
          </a:prstGeom>
          <a:solidFill>
            <a:schemeClr val="accent5"/>
          </a:solidFill>
          <a:ln/>
        </p:spPr>
      </p:sp>
      <p:sp>
        <p:nvSpPr>
          <p:cNvPr id="22" name="card"/>
          <p:cNvSpPr/>
          <p:nvPr/>
        </p:nvSpPr>
        <p:spPr>
          <a:xfrm>
            <a:off x="6199632" y="1828800"/>
            <a:ext cx="1645920" cy="3291840"/>
          </a:xfrm>
          <a:prstGeom prst="roundRect">
            <a:avLst>
              <a:gd name="adj" fmla="val 4444"/>
            </a:avLst>
          </a:prstGeom>
          <a:solidFill>
            <a:schemeClr val="bg2"/>
          </a:solidFill>
          <a:ln/>
        </p:spPr>
      </p:sp>
      <p:sp>
        <p:nvSpPr>
          <p:cNvPr id="23" name="icon bg FaCheckDouble"/>
          <p:cNvSpPr/>
          <p:nvPr/>
        </p:nvSpPr>
        <p:spPr>
          <a:xfrm>
            <a:off x="6656832" y="2057400"/>
            <a:ext cx="731520" cy="731520"/>
          </a:xfrm>
          <a:prstGeom prst="ellipse">
            <a:avLst/>
          </a:prstGeom>
          <a:solidFill>
            <a:schemeClr val="accent1"/>
          </a:solidFill>
          <a:ln/>
        </p:spPr>
      </p:sp>
      <p:pic>
        <p:nvPicPr>
          <p:cNvPr id="24" name="icon FaCheckDouble" descr="preencoded.png">    </p:cNvPr>
          <p:cNvPicPr>
            <a:picLocks noChangeAspect="1"/>
          </p:cNvPicPr>
          <p:nvPr/>
        </p:nvPicPr>
        <p:blipFill>
          <a:blip r:embed="rId4"/>
          <a:stretch>
            <a:fillRect/>
          </a:stretch>
        </p:blipFill>
        <p:spPr>
          <a:xfrm>
            <a:off x="6839712" y="2240280"/>
            <a:ext cx="365760" cy="365760"/>
          </a:xfrm>
          <a:prstGeom prst="rect">
            <a:avLst/>
          </a:prstGeom>
        </p:spPr>
      </p:pic>
      <p:sp>
        <p:nvSpPr>
          <p:cNvPr id="25" name="Text 18"/>
          <p:cNvSpPr txBox="1"/>
          <p:nvPr/>
        </p:nvSpPr>
        <p:spPr>
          <a:xfrm>
            <a:off x="6291072"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Validate &amp; map</a:t>
            </a:r>
            <a:endParaRPr lang="en-US" sz="1700" dirty="0"/>
          </a:p>
        </p:txBody>
      </p:sp>
      <p:sp>
        <p:nvSpPr>
          <p:cNvPr id="26" name="Text 19"/>
          <p:cNvSpPr txBox="1"/>
          <p:nvPr/>
        </p:nvSpPr>
        <p:spPr>
          <a:xfrm>
            <a:off x="6309360"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Mandatory, rules, formats, reference copy</a:t>
            </a:r>
            <a:endParaRPr lang="en-US" sz="1300" dirty="0"/>
          </a:p>
        </p:txBody>
      </p:sp>
      <p:sp>
        <p:nvSpPr>
          <p:cNvPr id="27" name="arrow"/>
          <p:cNvSpPr/>
          <p:nvPr/>
        </p:nvSpPr>
        <p:spPr>
          <a:xfrm>
            <a:off x="7872984" y="3291840"/>
            <a:ext cx="182880" cy="292608"/>
          </a:xfrm>
          <a:prstGeom prst="rightArrow">
            <a:avLst/>
          </a:prstGeom>
          <a:solidFill>
            <a:schemeClr val="accent5"/>
          </a:solidFill>
          <a:ln/>
        </p:spPr>
      </p:sp>
      <p:sp>
        <p:nvSpPr>
          <p:cNvPr id="28" name="card"/>
          <p:cNvSpPr/>
          <p:nvPr/>
        </p:nvSpPr>
        <p:spPr>
          <a:xfrm>
            <a:off x="8083296" y="1828800"/>
            <a:ext cx="1645920" cy="3291840"/>
          </a:xfrm>
          <a:prstGeom prst="roundRect">
            <a:avLst>
              <a:gd name="adj" fmla="val 4444"/>
            </a:avLst>
          </a:prstGeom>
          <a:solidFill>
            <a:schemeClr val="bg2"/>
          </a:solidFill>
          <a:ln/>
        </p:spPr>
      </p:sp>
      <p:sp>
        <p:nvSpPr>
          <p:cNvPr id="29" name="icon bg FaFlask"/>
          <p:cNvSpPr/>
          <p:nvPr/>
        </p:nvSpPr>
        <p:spPr>
          <a:xfrm>
            <a:off x="8540496" y="2057400"/>
            <a:ext cx="731520" cy="731520"/>
          </a:xfrm>
          <a:prstGeom prst="ellipse">
            <a:avLst/>
          </a:prstGeom>
          <a:solidFill>
            <a:schemeClr val="accent1"/>
          </a:solidFill>
          <a:ln/>
        </p:spPr>
      </p:sp>
      <p:pic>
        <p:nvPicPr>
          <p:cNvPr id="30" name="icon FaFlask" descr="preencoded.png">    </p:cNvPr>
          <p:cNvPicPr>
            <a:picLocks noChangeAspect="1"/>
          </p:cNvPicPr>
          <p:nvPr/>
        </p:nvPicPr>
        <p:blipFill>
          <a:blip r:embed="rId5"/>
          <a:stretch>
            <a:fillRect/>
          </a:stretch>
        </p:blipFill>
        <p:spPr>
          <a:xfrm>
            <a:off x="8723376" y="2240280"/>
            <a:ext cx="365760" cy="365760"/>
          </a:xfrm>
          <a:prstGeom prst="rect">
            <a:avLst/>
          </a:prstGeom>
        </p:spPr>
      </p:pic>
      <p:sp>
        <p:nvSpPr>
          <p:cNvPr id="31" name="Text 23"/>
          <p:cNvSpPr txBox="1"/>
          <p:nvPr/>
        </p:nvSpPr>
        <p:spPr>
          <a:xfrm>
            <a:off x="8174736"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Simulate</a:t>
            </a:r>
            <a:endParaRPr lang="en-US" sz="1700" dirty="0"/>
          </a:p>
        </p:txBody>
      </p:sp>
      <p:sp>
        <p:nvSpPr>
          <p:cNvPr id="32" name="Text 24"/>
          <p:cNvSpPr txBox="1"/>
          <p:nvPr/>
        </p:nvSpPr>
        <p:spPr>
          <a:xfrm>
            <a:off x="8193024"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BAPI_MATERIAL_SAVEREPLICA in test mode</a:t>
            </a:r>
            <a:endParaRPr lang="en-US" sz="1300" dirty="0"/>
          </a:p>
        </p:txBody>
      </p:sp>
      <p:sp>
        <p:nvSpPr>
          <p:cNvPr id="33" name="arrow"/>
          <p:cNvSpPr/>
          <p:nvPr/>
        </p:nvSpPr>
        <p:spPr>
          <a:xfrm>
            <a:off x="9756648" y="3291840"/>
            <a:ext cx="182880" cy="292608"/>
          </a:xfrm>
          <a:prstGeom prst="rightArrow">
            <a:avLst/>
          </a:prstGeom>
          <a:solidFill>
            <a:schemeClr val="accent5"/>
          </a:solidFill>
          <a:ln/>
        </p:spPr>
      </p:sp>
      <p:sp>
        <p:nvSpPr>
          <p:cNvPr id="34" name="card"/>
          <p:cNvSpPr/>
          <p:nvPr/>
        </p:nvSpPr>
        <p:spPr>
          <a:xfrm>
            <a:off x="9966960" y="1828800"/>
            <a:ext cx="1645920" cy="3291840"/>
          </a:xfrm>
          <a:prstGeom prst="roundRect">
            <a:avLst>
              <a:gd name="adj" fmla="val 4444"/>
            </a:avLst>
          </a:prstGeom>
          <a:solidFill>
            <a:schemeClr val="bg2"/>
          </a:solidFill>
          <a:ln/>
        </p:spPr>
      </p:sp>
      <p:sp>
        <p:nvSpPr>
          <p:cNvPr id="35" name="icon bg FaSave"/>
          <p:cNvSpPr/>
          <p:nvPr/>
        </p:nvSpPr>
        <p:spPr>
          <a:xfrm>
            <a:off x="10424160" y="2057400"/>
            <a:ext cx="731520" cy="731520"/>
          </a:xfrm>
          <a:prstGeom prst="ellipse">
            <a:avLst/>
          </a:prstGeom>
          <a:solidFill>
            <a:schemeClr val="accent1"/>
          </a:solidFill>
          <a:ln/>
        </p:spPr>
      </p:sp>
      <p:pic>
        <p:nvPicPr>
          <p:cNvPr id="36" name="icon FaSave" descr="preencoded.png">    </p:cNvPr>
          <p:cNvPicPr>
            <a:picLocks noChangeAspect="1"/>
          </p:cNvPicPr>
          <p:nvPr/>
        </p:nvPicPr>
        <p:blipFill>
          <a:blip r:embed="rId6"/>
          <a:stretch>
            <a:fillRect/>
          </a:stretch>
        </p:blipFill>
        <p:spPr>
          <a:xfrm>
            <a:off x="10607040" y="2240280"/>
            <a:ext cx="365760" cy="365760"/>
          </a:xfrm>
          <a:prstGeom prst="rect">
            <a:avLst/>
          </a:prstGeom>
        </p:spPr>
      </p:pic>
      <p:sp>
        <p:nvSpPr>
          <p:cNvPr id="37" name="Text 28"/>
          <p:cNvSpPr txBox="1"/>
          <p:nvPr/>
        </p:nvSpPr>
        <p:spPr>
          <a:xfrm>
            <a:off x="10058400" y="2926080"/>
            <a:ext cx="1463040" cy="411480"/>
          </a:xfrm>
          <a:prstGeom prst="rect">
            <a:avLst/>
          </a:prstGeom>
          <a:noFill/>
          <a:ln/>
        </p:spPr>
        <p:txBody>
          <a:bodyPr wrap="square" lIns="0" tIns="0" rIns="0" bIns="0" rtlCol="0" anchor="t"/>
          <a:lstStyle/>
          <a:p>
            <a:pPr algn="ctr" indent="0" marL="0">
              <a:buNone/>
            </a:pPr>
            <a:r>
              <a:rPr lang="en-US" sz="1700" b="1" dirty="0">
                <a:solidFill>
                  <a:schemeClr val="tx2"/>
                </a:solidFill>
              </a:rPr>
              <a:t>Post &amp; report</a:t>
            </a:r>
            <a:endParaRPr lang="en-US" sz="1700" dirty="0"/>
          </a:p>
        </p:txBody>
      </p:sp>
      <p:sp>
        <p:nvSpPr>
          <p:cNvPr id="38" name="Text 29"/>
          <p:cNvSpPr txBox="1"/>
          <p:nvPr/>
        </p:nvSpPr>
        <p:spPr>
          <a:xfrm>
            <a:off x="10076688" y="3383280"/>
            <a:ext cx="1426464" cy="1645920"/>
          </a:xfrm>
          <a:prstGeom prst="rect">
            <a:avLst/>
          </a:prstGeom>
          <a:noFill/>
          <a:ln/>
        </p:spPr>
        <p:txBody>
          <a:bodyPr wrap="square" lIns="0" tIns="0" rIns="0" bIns="0" rtlCol="0" anchor="t"/>
          <a:lstStyle/>
          <a:p>
            <a:pPr algn="ctr" indent="0" marL="0">
              <a:buNone/>
            </a:pPr>
            <a:r>
              <a:rPr lang="en-US" sz="1300" dirty="0">
                <a:solidFill>
                  <a:schemeClr val="accent5"/>
                </a:solidFill>
              </a:rPr>
              <a:t>Commit, ALV, result file, e-mail</a:t>
            </a:r>
            <a:endParaRPr lang="en-US" sz="1300" dirty="0"/>
          </a:p>
        </p:txBody>
      </p:sp>
      <p:sp>
        <p:nvSpPr>
          <p:cNvPr id="39" name="Text 30"/>
          <p:cNvSpPr txBox="1"/>
          <p:nvPr/>
        </p:nvSpPr>
        <p:spPr>
          <a:xfrm>
            <a:off x="548640" y="5486400"/>
            <a:ext cx="11064240" cy="457200"/>
          </a:xfrm>
          <a:prstGeom prst="rect">
            <a:avLst/>
          </a:prstGeom>
          <a:noFill/>
          <a:ln/>
        </p:spPr>
        <p:txBody>
          <a:bodyPr wrap="square" lIns="0" tIns="0" rIns="0" bIns="0" rtlCol="0" anchor="t"/>
          <a:lstStyle/>
          <a:p>
            <a:pPr algn="ctr" indent="0" marL="0">
              <a:buNone/>
            </a:pPr>
            <a:r>
              <a:rPr lang="en-US" sz="1600" i="1" dirty="0">
                <a:solidFill>
                  <a:schemeClr val="accent1"/>
                </a:solidFill>
              </a:rPr>
              <a:t>Test run stops after Simulate.  Actual run simulates first, then draws the number and posts.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01</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Selection screen and template</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How a user starts a run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Selection screen</a:t>
            </a:r>
            <a:endParaRPr lang="en-US" sz="3200" dirty="0"/>
          </a:p>
        </p:txBody>
      </p:sp>
      <p:pic>
        <p:nvPicPr>
          <p:cNvPr id="4" name="figure sel_create.png" descr="/tmp/claude-0/-home-user-zmm-material-maintenance/1352b8c0-3fee-5073-834d-e95bee04ea8d/scratchpad/ppt/../doc/img/sel_create.png">    </p:cNvPr>
          <p:cNvPicPr>
            <a:picLocks noChangeAspect="1"/>
          </p:cNvPicPr>
          <p:nvPr/>
        </p:nvPicPr>
        <p:blipFill>
          <a:blip r:embed="rId1"/>
          <a:stretch>
            <a:fillRect/>
          </a:stretch>
        </p:blipFill>
        <p:spPr>
          <a:xfrm>
            <a:off x="569849" y="1234440"/>
            <a:ext cx="4895343" cy="5029200"/>
          </a:xfrm>
          <a:prstGeom prst="rect">
            <a:avLst/>
          </a:prstGeom>
          <a:effectLst>
            <a:outerShdw sx="100000" sy="100000" kx="0" ky="0" algn="bl" rotWithShape="0" blurRad="76200" dist="25400" dir="5400000">
              <a:srgbClr val="000000">
                <a:alpha val="18000"/>
              </a:srgbClr>
            </a:outerShdw>
          </a:effectLst>
        </p:spPr>
      </p:pic>
      <p:sp>
        <p:nvSpPr>
          <p:cNvPr id="5" name="chip 1"/>
          <p:cNvSpPr/>
          <p:nvPr/>
        </p:nvSpPr>
        <p:spPr>
          <a:xfrm>
            <a:off x="5943600" y="1325880"/>
            <a:ext cx="868680" cy="457200"/>
          </a:xfrm>
          <a:prstGeom prst="roundRect">
            <a:avLst>
              <a:gd name="adj" fmla="val 12000"/>
            </a:avLst>
          </a:prstGeom>
          <a:solidFill>
            <a:schemeClr val="accent2"/>
          </a:solidFill>
          <a:ln/>
        </p:spPr>
      </p:sp>
      <p:sp>
        <p:nvSpPr>
          <p:cNvPr id="6" name="Text 2"/>
          <p:cNvSpPr txBox="1"/>
          <p:nvPr/>
        </p:nvSpPr>
        <p:spPr>
          <a:xfrm>
            <a:off x="5943600" y="13258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3"/>
          <p:cNvSpPr txBox="1"/>
          <p:nvPr/>
        </p:nvSpPr>
        <p:spPr>
          <a:xfrm>
            <a:off x="6995160" y="1325880"/>
            <a:ext cx="4617720" cy="548640"/>
          </a:xfrm>
          <a:prstGeom prst="rect">
            <a:avLst/>
          </a:prstGeom>
          <a:noFill/>
          <a:ln/>
        </p:spPr>
        <p:txBody>
          <a:bodyPr wrap="square" lIns="0" tIns="0" rIns="0" bIns="0" rtlCol="0" anchor="ctr"/>
          <a:lstStyle/>
          <a:p>
            <a:pPr indent="0" marL="0">
              <a:buNone/>
            </a:pPr>
            <a:r>
              <a:rPr lang="en-US" sz="1500" dirty="0">
                <a:solidFill>
                  <a:schemeClr val="tx1"/>
                </a:solidFill>
              </a:rPr>
              <a:t>Download the template for the operation (SMW0)</a:t>
            </a:r>
            <a:endParaRPr lang="en-US" sz="1500" dirty="0"/>
          </a:p>
        </p:txBody>
      </p:sp>
      <p:sp>
        <p:nvSpPr>
          <p:cNvPr id="8" name="chip 2-3"/>
          <p:cNvSpPr/>
          <p:nvPr/>
        </p:nvSpPr>
        <p:spPr>
          <a:xfrm>
            <a:off x="5943600" y="2011680"/>
            <a:ext cx="868680" cy="457200"/>
          </a:xfrm>
          <a:prstGeom prst="roundRect">
            <a:avLst>
              <a:gd name="adj" fmla="val 12000"/>
            </a:avLst>
          </a:prstGeom>
          <a:solidFill>
            <a:schemeClr val="accent2"/>
          </a:solidFill>
          <a:ln/>
        </p:spPr>
      </p:sp>
      <p:sp>
        <p:nvSpPr>
          <p:cNvPr id="9" name="Text 5"/>
          <p:cNvSpPr txBox="1"/>
          <p:nvPr/>
        </p:nvSpPr>
        <p:spPr>
          <a:xfrm>
            <a:off x="5943600" y="20116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2-3</a:t>
            </a:r>
            <a:endParaRPr lang="en-US" sz="1400" dirty="0"/>
          </a:p>
        </p:txBody>
      </p:sp>
      <p:sp>
        <p:nvSpPr>
          <p:cNvPr id="10" name="Text 6"/>
          <p:cNvSpPr txBox="1"/>
          <p:nvPr/>
        </p:nvSpPr>
        <p:spPr>
          <a:xfrm>
            <a:off x="6995160" y="2011680"/>
            <a:ext cx="4617720" cy="548640"/>
          </a:xfrm>
          <a:prstGeom prst="rect">
            <a:avLst/>
          </a:prstGeom>
          <a:noFill/>
          <a:ln/>
        </p:spPr>
        <p:txBody>
          <a:bodyPr wrap="square" lIns="0" tIns="0" rIns="0" bIns="0" rtlCol="0" anchor="ctr"/>
          <a:lstStyle/>
          <a:p>
            <a:pPr indent="0" marL="0">
              <a:buNone/>
            </a:pPr>
            <a:r>
              <a:rPr lang="en-US" sz="1500" dirty="0">
                <a:solidFill>
                  <a:schemeClr val="tx1"/>
                </a:solidFill>
              </a:rPr>
              <a:t>File from local PC or application server</a:t>
            </a:r>
            <a:endParaRPr lang="en-US" sz="1500" dirty="0"/>
          </a:p>
        </p:txBody>
      </p:sp>
      <p:sp>
        <p:nvSpPr>
          <p:cNvPr id="11" name="chip 4"/>
          <p:cNvSpPr/>
          <p:nvPr/>
        </p:nvSpPr>
        <p:spPr>
          <a:xfrm>
            <a:off x="5943600" y="2697480"/>
            <a:ext cx="868680" cy="457200"/>
          </a:xfrm>
          <a:prstGeom prst="roundRect">
            <a:avLst>
              <a:gd name="adj" fmla="val 12000"/>
            </a:avLst>
          </a:prstGeom>
          <a:solidFill>
            <a:schemeClr val="accent2"/>
          </a:solidFill>
          <a:ln/>
        </p:spPr>
      </p:sp>
      <p:sp>
        <p:nvSpPr>
          <p:cNvPr id="12" name="Text 8"/>
          <p:cNvSpPr txBox="1"/>
          <p:nvPr/>
        </p:nvSpPr>
        <p:spPr>
          <a:xfrm>
            <a:off x="5943600" y="26974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9"/>
          <p:cNvSpPr txBox="1"/>
          <p:nvPr/>
        </p:nvSpPr>
        <p:spPr>
          <a:xfrm>
            <a:off x="6995160" y="2697480"/>
            <a:ext cx="4617720" cy="548640"/>
          </a:xfrm>
          <a:prstGeom prst="rect">
            <a:avLst/>
          </a:prstGeom>
          <a:noFill/>
          <a:ln/>
        </p:spPr>
        <p:txBody>
          <a:bodyPr wrap="square" lIns="0" tIns="0" rIns="0" bIns="0" rtlCol="0" anchor="ctr"/>
          <a:lstStyle/>
          <a:p>
            <a:pPr indent="0" marL="0">
              <a:buNone/>
            </a:pPr>
            <a:r>
              <a:rPr lang="en-US" sz="1500" dirty="0">
                <a:solidFill>
                  <a:schemeClr val="tx1"/>
                </a:solidFill>
              </a:rPr>
              <a:t>Operation: Create, Update or Extend</a:t>
            </a:r>
            <a:endParaRPr lang="en-US" sz="1500" dirty="0"/>
          </a:p>
        </p:txBody>
      </p:sp>
      <p:sp>
        <p:nvSpPr>
          <p:cNvPr id="14" name="chip 5-7"/>
          <p:cNvSpPr/>
          <p:nvPr/>
        </p:nvSpPr>
        <p:spPr>
          <a:xfrm>
            <a:off x="5943600" y="3383280"/>
            <a:ext cx="868680" cy="457200"/>
          </a:xfrm>
          <a:prstGeom prst="roundRect">
            <a:avLst>
              <a:gd name="adj" fmla="val 12000"/>
            </a:avLst>
          </a:prstGeom>
          <a:solidFill>
            <a:schemeClr val="accent2"/>
          </a:solidFill>
          <a:ln/>
        </p:spPr>
      </p:sp>
      <p:sp>
        <p:nvSpPr>
          <p:cNvPr id="15" name="Text 11"/>
          <p:cNvSpPr txBox="1"/>
          <p:nvPr/>
        </p:nvSpPr>
        <p:spPr>
          <a:xfrm>
            <a:off x="5943600" y="33832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5-7</a:t>
            </a:r>
            <a:endParaRPr lang="en-US" sz="1400" dirty="0"/>
          </a:p>
        </p:txBody>
      </p:sp>
      <p:sp>
        <p:nvSpPr>
          <p:cNvPr id="16" name="Text 12"/>
          <p:cNvSpPr txBox="1"/>
          <p:nvPr/>
        </p:nvSpPr>
        <p:spPr>
          <a:xfrm>
            <a:off x="6995160" y="3383280"/>
            <a:ext cx="4617720" cy="548640"/>
          </a:xfrm>
          <a:prstGeom prst="rect">
            <a:avLst/>
          </a:prstGeom>
          <a:noFill/>
          <a:ln/>
        </p:spPr>
        <p:txBody>
          <a:bodyPr wrap="square" lIns="0" tIns="0" rIns="0" bIns="0" rtlCol="0" anchor="ctr"/>
          <a:lstStyle/>
          <a:p>
            <a:pPr indent="0" marL="0">
              <a:buNone/>
            </a:pPr>
            <a:r>
              <a:rPr lang="en-US" sz="1500" dirty="0">
                <a:solidFill>
                  <a:schemeClr val="tx1"/>
                </a:solidFill>
              </a:rPr>
              <a:t>Material type, industry sector, business profile - only allowed values</a:t>
            </a:r>
            <a:endParaRPr lang="en-US" sz="1500" dirty="0"/>
          </a:p>
        </p:txBody>
      </p:sp>
      <p:sp>
        <p:nvSpPr>
          <p:cNvPr id="17" name="chip 8-15"/>
          <p:cNvSpPr/>
          <p:nvPr/>
        </p:nvSpPr>
        <p:spPr>
          <a:xfrm>
            <a:off x="5943600" y="4069080"/>
            <a:ext cx="868680" cy="457200"/>
          </a:xfrm>
          <a:prstGeom prst="roundRect">
            <a:avLst>
              <a:gd name="adj" fmla="val 12000"/>
            </a:avLst>
          </a:prstGeom>
          <a:solidFill>
            <a:schemeClr val="accent2"/>
          </a:solidFill>
          <a:ln/>
        </p:spPr>
      </p:sp>
      <p:sp>
        <p:nvSpPr>
          <p:cNvPr id="18" name="Text 14"/>
          <p:cNvSpPr txBox="1"/>
          <p:nvPr/>
        </p:nvSpPr>
        <p:spPr>
          <a:xfrm>
            <a:off x="5943600" y="40690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8-15</a:t>
            </a:r>
            <a:endParaRPr lang="en-US" sz="1400" dirty="0"/>
          </a:p>
        </p:txBody>
      </p:sp>
      <p:sp>
        <p:nvSpPr>
          <p:cNvPr id="19" name="Text 15"/>
          <p:cNvSpPr txBox="1"/>
          <p:nvPr/>
        </p:nvSpPr>
        <p:spPr>
          <a:xfrm>
            <a:off x="6995160" y="4069080"/>
            <a:ext cx="4617720" cy="548640"/>
          </a:xfrm>
          <a:prstGeom prst="rect">
            <a:avLst/>
          </a:prstGeom>
          <a:noFill/>
          <a:ln/>
        </p:spPr>
        <p:txBody>
          <a:bodyPr wrap="square" lIns="0" tIns="0" rIns="0" bIns="0" rtlCol="0" anchor="ctr"/>
          <a:lstStyle/>
          <a:p>
            <a:pPr indent="0" marL="0">
              <a:buNone/>
            </a:pPr>
            <a:r>
              <a:rPr lang="en-US" sz="1500" dirty="0">
                <a:solidFill>
                  <a:schemeClr val="tx1"/>
                </a:solidFill>
              </a:rPr>
              <a:t>Views to process (basic data always)</a:t>
            </a:r>
            <a:endParaRPr lang="en-US" sz="1500" dirty="0"/>
          </a:p>
        </p:txBody>
      </p:sp>
      <p:sp>
        <p:nvSpPr>
          <p:cNvPr id="20" name="chip 16-17"/>
          <p:cNvSpPr/>
          <p:nvPr/>
        </p:nvSpPr>
        <p:spPr>
          <a:xfrm>
            <a:off x="5943600" y="4754880"/>
            <a:ext cx="868680" cy="457200"/>
          </a:xfrm>
          <a:prstGeom prst="roundRect">
            <a:avLst>
              <a:gd name="adj" fmla="val 12000"/>
            </a:avLst>
          </a:prstGeom>
          <a:solidFill>
            <a:schemeClr val="accent2"/>
          </a:solidFill>
          <a:ln/>
        </p:spPr>
      </p:sp>
      <p:sp>
        <p:nvSpPr>
          <p:cNvPr id="21" name="Text 17"/>
          <p:cNvSpPr txBox="1"/>
          <p:nvPr/>
        </p:nvSpPr>
        <p:spPr>
          <a:xfrm>
            <a:off x="5943600" y="47548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16-17</a:t>
            </a:r>
            <a:endParaRPr lang="en-US" sz="1400" dirty="0"/>
          </a:p>
        </p:txBody>
      </p:sp>
      <p:sp>
        <p:nvSpPr>
          <p:cNvPr id="22" name="Text 18"/>
          <p:cNvSpPr txBox="1"/>
          <p:nvPr/>
        </p:nvSpPr>
        <p:spPr>
          <a:xfrm>
            <a:off x="6995160" y="4754880"/>
            <a:ext cx="4617720" cy="548640"/>
          </a:xfrm>
          <a:prstGeom prst="rect">
            <a:avLst/>
          </a:prstGeom>
          <a:noFill/>
          <a:ln/>
        </p:spPr>
        <p:txBody>
          <a:bodyPr wrap="square" lIns="0" tIns="0" rIns="0" bIns="0" rtlCol="0" anchor="ctr"/>
          <a:lstStyle/>
          <a:p>
            <a:pPr indent="0" marL="0">
              <a:buNone/>
            </a:pPr>
            <a:r>
              <a:rPr lang="en-US" sz="1500" dirty="0">
                <a:solidFill>
                  <a:schemeClr val="tx1"/>
                </a:solidFill>
              </a:rPr>
              <a:t>Server output path and e-mail recipients</a:t>
            </a:r>
            <a:endParaRPr lang="en-US" sz="1500" dirty="0"/>
          </a:p>
        </p:txBody>
      </p:sp>
      <p:sp>
        <p:nvSpPr>
          <p:cNvPr id="23" name="chip 18"/>
          <p:cNvSpPr/>
          <p:nvPr/>
        </p:nvSpPr>
        <p:spPr>
          <a:xfrm>
            <a:off x="5943600" y="5440680"/>
            <a:ext cx="868680" cy="457200"/>
          </a:xfrm>
          <a:prstGeom prst="roundRect">
            <a:avLst>
              <a:gd name="adj" fmla="val 12000"/>
            </a:avLst>
          </a:prstGeom>
          <a:solidFill>
            <a:schemeClr val="accent2"/>
          </a:solidFill>
          <a:ln/>
        </p:spPr>
      </p:sp>
      <p:sp>
        <p:nvSpPr>
          <p:cNvPr id="24" name="Text 20"/>
          <p:cNvSpPr txBox="1"/>
          <p:nvPr/>
        </p:nvSpPr>
        <p:spPr>
          <a:xfrm>
            <a:off x="5943600" y="5440680"/>
            <a:ext cx="868680" cy="457200"/>
          </a:xfrm>
          <a:prstGeom prst="rect">
            <a:avLst/>
          </a:prstGeom>
          <a:noFill/>
          <a:ln/>
        </p:spPr>
        <p:txBody>
          <a:bodyPr wrap="square" lIns="0" tIns="0" rIns="0" bIns="0" rtlCol="0" anchor="ctr"/>
          <a:lstStyle/>
          <a:p>
            <a:pPr algn="ctr" indent="0" marL="0">
              <a:buNone/>
            </a:pPr>
            <a:r>
              <a:rPr lang="en-US" sz="1400" b="1" dirty="0">
                <a:solidFill>
                  <a:schemeClr val="tx1"/>
                </a:solidFill>
              </a:rPr>
              <a:t>18</a:t>
            </a:r>
            <a:endParaRPr lang="en-US" sz="1400" dirty="0"/>
          </a:p>
        </p:txBody>
      </p:sp>
      <p:sp>
        <p:nvSpPr>
          <p:cNvPr id="25" name="Text 21"/>
          <p:cNvSpPr txBox="1"/>
          <p:nvPr/>
        </p:nvSpPr>
        <p:spPr>
          <a:xfrm>
            <a:off x="6995160" y="5440680"/>
            <a:ext cx="4617720" cy="548640"/>
          </a:xfrm>
          <a:prstGeom prst="rect">
            <a:avLst/>
          </a:prstGeom>
          <a:noFill/>
          <a:ln/>
        </p:spPr>
        <p:txBody>
          <a:bodyPr wrap="square" lIns="0" tIns="0" rIns="0" bIns="0" rtlCol="0" anchor="ctr"/>
          <a:lstStyle/>
          <a:p>
            <a:pPr indent="0" marL="0">
              <a:buNone/>
            </a:pPr>
            <a:r>
              <a:rPr lang="en-US" sz="1500" dirty="0">
                <a:solidFill>
                  <a:schemeClr val="tx1"/>
                </a:solidFill>
              </a:rPr>
              <a:t>Test run (default on) = simulation only</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Excel template and instruction sheet</a:t>
            </a:r>
            <a:endParaRPr lang="en-US" sz="3200" dirty="0"/>
          </a:p>
        </p:txBody>
      </p:sp>
      <p:pic>
        <p:nvPicPr>
          <p:cNvPr id="4" name="figure tpl_twosheets.png" descr="/tmp/claude-0/-home-user-zmm-material-maintenance/1352b8c0-3fee-5073-834d-e95bee04ea8d/scratchpad/ppt/../doc/img/tpl_twosheets.png">    </p:cNvPr>
          <p:cNvPicPr>
            <a:picLocks noChangeAspect="1"/>
          </p:cNvPicPr>
          <p:nvPr/>
        </p:nvPicPr>
        <p:blipFill>
          <a:blip r:embed="rId1"/>
          <a:stretch>
            <a:fillRect/>
          </a:stretch>
        </p:blipFill>
        <p:spPr>
          <a:xfrm>
            <a:off x="548640" y="1280160"/>
            <a:ext cx="6583680" cy="2117408"/>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7452360" y="1280160"/>
            <a:ext cx="4160520" cy="4754880"/>
          </a:xfrm>
          <a:prstGeom prst="roundRect">
            <a:avLst>
              <a:gd name="adj" fmla="val 1758"/>
            </a:avLst>
          </a:prstGeom>
          <a:solidFill>
            <a:schemeClr val="bg2"/>
          </a:solidFill>
          <a:ln/>
        </p:spPr>
      </p:sp>
      <p:sp>
        <p:nvSpPr>
          <p:cNvPr id="6" name="Text 2"/>
          <p:cNvSpPr txBox="1"/>
          <p:nvPr/>
        </p:nvSpPr>
        <p:spPr>
          <a:xfrm>
            <a:off x="7726680" y="1463040"/>
            <a:ext cx="3657600" cy="411480"/>
          </a:xfrm>
          <a:prstGeom prst="rect">
            <a:avLst/>
          </a:prstGeom>
          <a:noFill/>
          <a:ln/>
        </p:spPr>
        <p:txBody>
          <a:bodyPr wrap="square" lIns="0" tIns="0" rIns="0" bIns="0" rtlCol="0" anchor="t"/>
          <a:lstStyle/>
          <a:p>
            <a:pPr indent="0" marL="0">
              <a:buNone/>
            </a:pPr>
            <a:r>
              <a:rPr lang="en-US" sz="1900" b="1" dirty="0">
                <a:solidFill>
                  <a:schemeClr val="tx2"/>
                </a:solidFill>
              </a:rPr>
              <a:t>Rules</a:t>
            </a:r>
            <a:endParaRPr lang="en-US" sz="1900" dirty="0"/>
          </a:p>
        </p:txBody>
      </p:sp>
      <p:sp>
        <p:nvSpPr>
          <p:cNvPr id="7" name="Text 3"/>
          <p:cNvSpPr txBox="1"/>
          <p:nvPr/>
        </p:nvSpPr>
        <p:spPr>
          <a:xfrm>
            <a:off x="7726680" y="1965960"/>
            <a:ext cx="3657600" cy="3931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Row 3 = technical field names, row 4 = descriptions, data from row 5</a:t>
            </a:r>
            <a:endParaRPr lang="en-US" sz="1500" dirty="0"/>
          </a:p>
          <a:p>
            <a:pPr marL="203200" indent="-203200">
              <a:spcAft>
                <a:spcPts val="800"/>
              </a:spcAft>
              <a:buSzPct val="100000"/>
              <a:buChar char="•"/>
            </a:pPr>
            <a:r>
              <a:rPr lang="en-US" sz="1500" dirty="0">
                <a:solidFill>
                  <a:schemeClr val="tx1"/>
                </a:solidFill>
              </a:rPr>
              <a:t>More than one sheet: 2nd sheet is the data</a:t>
            </a:r>
            <a:endParaRPr lang="en-US" sz="1500" dirty="0"/>
          </a:p>
          <a:p>
            <a:pPr marL="203200" indent="-203200">
              <a:spcAft>
                <a:spcPts val="800"/>
              </a:spcAft>
              <a:buSzPct val="100000"/>
              <a:buChar char="•"/>
            </a:pPr>
            <a:r>
              <a:rPr lang="en-US" sz="1500" dirty="0">
                <a:solidFill>
                  <a:schemeClr val="tx1"/>
                </a:solidFill>
              </a:rPr>
              <a:t>One sheet: that sheet is the data</a:t>
            </a:r>
            <a:endParaRPr lang="en-US" sz="1500" dirty="0"/>
          </a:p>
          <a:p>
            <a:pPr marL="203200" indent="-203200">
              <a:spcAft>
                <a:spcPts val="800"/>
              </a:spcAft>
              <a:buSzPct val="100000"/>
              <a:buChar char="•"/>
            </a:pPr>
            <a:r>
              <a:rPr lang="en-US" sz="1500" dirty="0">
                <a:solidFill>
                  <a:schemeClr val="tx1"/>
                </a:solidFill>
              </a:rPr>
              <a:t>One row = one material and org. level</a:t>
            </a:r>
            <a:endParaRPr lang="en-US" sz="1500" dirty="0"/>
          </a:p>
          <a:p>
            <a:pPr marL="203200" indent="-203200">
              <a:spcAft>
                <a:spcPts val="800"/>
              </a:spcAft>
              <a:buSzPct val="100000"/>
              <a:buChar char="•"/>
            </a:pPr>
            <a:r>
              <a:rPr lang="en-US" sz="1500" dirty="0">
                <a:solidFill>
                  <a:schemeClr val="tx1"/>
                </a:solidFill>
              </a:rPr>
              <a:t>Save as .xlsx</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6583680" cy="914400"/>
        </p:xfrm>
        <a:graphic>
          <a:graphicData uri="http://schemas.openxmlformats.org/drawingml/2006/table">
            <a:tbl>
              <a:tblPr/>
              <a:tblGrid>
                <a:gridCol w="2194560"/>
                <a:gridCol w="4389120"/>
              </a:tblGrid>
              <a:tr h="0">
                <a:tc>
                  <a:txBody>
                    <a:bodyPr/>
                    <a:lstStyle/>
                    <a:p>
                      <a:pPr indent="0" marL="0">
                        <a:buNone/>
                      </a:pPr>
                      <a:r>
                        <a:rPr lang="en-US" sz="1400" b="1" dirty="0">
                          <a:solidFill>
                            <a:schemeClr val="bg1"/>
                          </a:solidFill>
                        </a:rPr>
                        <a:t>Operation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SMW0 object</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1"/>
                          </a:solidFill>
                        </a:rPr>
                        <a:t>Create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ZMMCREATE_CRT_XLSX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rPr>
                        <a:t>Update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ZMMCREATE_UPD_XLSX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Extend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ZMMCREATE_EXT_XLSX</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Control columns - steering each row</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760720"/>
                <a:gridCol w="5303520"/>
              </a:tblGrid>
              <a:tr h="0">
                <a:tc>
                  <a:txBody>
                    <a:bodyPr/>
                    <a:lstStyle/>
                    <a:p>
                      <a:pPr indent="0" marL="0">
                        <a:buNone/>
                      </a:pPr>
                      <a:r>
                        <a:rPr lang="en-US" sz="1400" b="1" dirty="0">
                          <a:solidFill>
                            <a:schemeClr val="bg1"/>
                          </a:solidFill>
                        </a:rPr>
                        <a:t>Column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ACTION</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 / U / E - must match the selected operation</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MATNR</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Material number (blank in Create = internal number)</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MESSAGE</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Ignored on upload</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REFERENCE_MATNR + REF_WERKS / LGORT / VKORG / VTWEG</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Reference material and its org. levels</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COPY_BASIC  PURCH  MRP  FRCST  SALES  ACCOUNTING  CLASS</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X / Y / YES / 1 / TRUE = copy that area</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PRODH_LVL1..5 or PRDHA</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 hierarchy by level or complete</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CLASS_TYPE, CLASS_NAME, CHAR_NAME_n / CHAR_VALUE_n</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Classification (default class type 001)</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PO_TEXT  /  SALES_TEXT</a:t>
                      </a:r>
                      <a:endParaRPr lang="en-US" sz="1400" dirty="0">
                        <a:latin typeface="Courier New" charset="0"/>
                        <a:ea typeface="Courier New" charset="0"/>
                        <a:cs typeface="Courier New" charset="0"/>
                      </a:endParaRPr>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Purchase order text / sales text</a:t>
                      </a:r>
                      <a:endParaRPr lang="en-US" sz="1400" dirty="0"/>
                    </a:p>
                  </a:txBody>
                  <a:tcPr marL="73152" marR="73152" marT="45720" marB="45720" anchor="ctr">
                    <a:lnL w="6350" cap="flat" cmpd="sng" algn="ctr">
                      <a:solidFill>
                        <a:srgbClr val="C9D6D9"/>
                      </a:solidFill>
                      <a:prstDash val="solid"/>
                      <a:round/>
                      <a:headEnd type="none" w="med" len="med"/>
                      <a:tailEnd type="none" w="med" len="med"/>
                    </a:lnL>
                    <a:lnR w="6350" cap="flat" cmpd="sng" algn="ctr">
                      <a:solidFill>
                        <a:srgbClr val="C9D6D9"/>
                      </a:solidFill>
                      <a:prstDash val="solid"/>
                      <a:round/>
                      <a:headEnd type="none" w="med" len="med"/>
                      <a:tailEnd type="none" w="med" len="med"/>
                    </a:lnR>
                    <a:lnT w="6350" cap="flat" cmpd="sng" algn="ctr">
                      <a:solidFill>
                        <a:srgbClr val="C9D6D9"/>
                      </a:solidFill>
                      <a:prstDash val="solid"/>
                      <a:round/>
                      <a:headEnd type="none" w="med" len="med"/>
                      <a:tailEnd type="none" w="med" len="med"/>
                    </a:lnT>
                    <a:lnB w="6350" cap="flat" cmpd="sng" algn="ctr">
                      <a:solidFill>
                        <a:srgbClr val="C9D6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02</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Create, Update, Extend</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The three operations in detail</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CREATE - new materials</a:t>
            </a:r>
            <a:endParaRPr lang="en-US" sz="3200" dirty="0"/>
          </a:p>
        </p:txBody>
      </p:sp>
      <p:pic>
        <p:nvPicPr>
          <p:cNvPr id="4" name="figure tpl_create.png" descr="/tmp/claude-0/-home-user-zmm-material-maintenance/1352b8c0-3fee-5073-834d-e95bee04ea8d/scratchpad/ppt/../doc/img/tpl_create.png">    </p:cNvPr>
          <p:cNvPicPr>
            <a:picLocks noChangeAspect="1"/>
          </p:cNvPicPr>
          <p:nvPr/>
        </p:nvPicPr>
        <p:blipFill>
          <a:blip r:embed="rId1"/>
          <a:stretch>
            <a:fillRect/>
          </a:stretch>
        </p:blipFill>
        <p:spPr>
          <a:xfrm>
            <a:off x="2025127" y="1280160"/>
            <a:ext cx="8111266" cy="237744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69080"/>
            <a:ext cx="2606040" cy="2057400"/>
          </a:xfrm>
          <a:prstGeom prst="roundRect">
            <a:avLst>
              <a:gd name="adj" fmla="val 3556"/>
            </a:avLst>
          </a:prstGeom>
          <a:solidFill>
            <a:schemeClr val="bg2"/>
          </a:solidFill>
          <a:ln/>
        </p:spPr>
      </p:sp>
      <p:sp>
        <p:nvSpPr>
          <p:cNvPr id="6" name="icon bg FaHashtag"/>
          <p:cNvSpPr/>
          <p:nvPr/>
        </p:nvSpPr>
        <p:spPr>
          <a:xfrm>
            <a:off x="777240" y="4251960"/>
            <a:ext cx="548640" cy="548640"/>
          </a:xfrm>
          <a:prstGeom prst="ellipse">
            <a:avLst/>
          </a:prstGeom>
          <a:solidFill>
            <a:schemeClr val="accent1"/>
          </a:solidFill>
          <a:ln/>
        </p:spPr>
      </p:sp>
      <p:pic>
        <p:nvPicPr>
          <p:cNvPr id="7" name="icon FaHashtag" descr="preencoded.png">    </p:cNvPr>
          <p:cNvPicPr>
            <a:picLocks noChangeAspect="1"/>
          </p:cNvPicPr>
          <p:nvPr/>
        </p:nvPicPr>
        <p:blipFill>
          <a:blip r:embed="rId2"/>
          <a:stretch>
            <a:fillRect/>
          </a:stretch>
        </p:blipFill>
        <p:spPr>
          <a:xfrm>
            <a:off x="914400" y="4389120"/>
            <a:ext cx="274320" cy="274320"/>
          </a:xfrm>
          <a:prstGeom prst="rect">
            <a:avLst/>
          </a:prstGeom>
        </p:spPr>
      </p:pic>
      <p:sp>
        <p:nvSpPr>
          <p:cNvPr id="8" name="Text 3"/>
          <p:cNvSpPr txBox="1"/>
          <p:nvPr/>
        </p:nvSpPr>
        <p:spPr>
          <a:xfrm>
            <a:off x="1463040"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Numbering</a:t>
            </a:r>
            <a:endParaRPr lang="en-US" sz="1600" dirty="0"/>
          </a:p>
        </p:txBody>
      </p:sp>
      <p:sp>
        <p:nvSpPr>
          <p:cNvPr id="9" name="Text 4"/>
          <p:cNvSpPr txBox="1"/>
          <p:nvPr/>
        </p:nvSpPr>
        <p:spPr>
          <a:xfrm>
            <a:off x="777240"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MATNR blank = internal number per row; filled = external number or same material on several org. levels</a:t>
            </a:r>
            <a:endParaRPr lang="en-US" sz="1300" dirty="0"/>
          </a:p>
        </p:txBody>
      </p:sp>
      <p:sp>
        <p:nvSpPr>
          <p:cNvPr id="10" name="card"/>
          <p:cNvSpPr/>
          <p:nvPr/>
        </p:nvSpPr>
        <p:spPr>
          <a:xfrm>
            <a:off x="3355848" y="4069080"/>
            <a:ext cx="2606040" cy="2057400"/>
          </a:xfrm>
          <a:prstGeom prst="roundRect">
            <a:avLst>
              <a:gd name="adj" fmla="val 3556"/>
            </a:avLst>
          </a:prstGeom>
          <a:solidFill>
            <a:schemeClr val="bg2"/>
          </a:solidFill>
          <a:ln/>
        </p:spPr>
      </p:sp>
      <p:sp>
        <p:nvSpPr>
          <p:cNvPr id="11" name="icon bg FaCopy"/>
          <p:cNvSpPr/>
          <p:nvPr/>
        </p:nvSpPr>
        <p:spPr>
          <a:xfrm>
            <a:off x="3584448" y="4251960"/>
            <a:ext cx="548640" cy="548640"/>
          </a:xfrm>
          <a:prstGeom prst="ellipse">
            <a:avLst/>
          </a:prstGeom>
          <a:solidFill>
            <a:schemeClr val="accent1"/>
          </a:solidFill>
          <a:ln/>
        </p:spPr>
      </p:sp>
      <p:pic>
        <p:nvPicPr>
          <p:cNvPr id="12" name="icon FaCopy" descr="preencoded.png">    </p:cNvPr>
          <p:cNvPicPr>
            <a:picLocks noChangeAspect="1"/>
          </p:cNvPicPr>
          <p:nvPr/>
        </p:nvPicPr>
        <p:blipFill>
          <a:blip r:embed="rId3"/>
          <a:stretch>
            <a:fillRect/>
          </a:stretch>
        </p:blipFill>
        <p:spPr>
          <a:xfrm>
            <a:off x="3721608" y="4389120"/>
            <a:ext cx="274320" cy="274320"/>
          </a:xfrm>
          <a:prstGeom prst="rect">
            <a:avLst/>
          </a:prstGeom>
        </p:spPr>
      </p:pic>
      <p:sp>
        <p:nvSpPr>
          <p:cNvPr id="13" name="Text 7"/>
          <p:cNvSpPr txBox="1"/>
          <p:nvPr/>
        </p:nvSpPr>
        <p:spPr>
          <a:xfrm>
            <a:off x="4270248"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Reference copy</a:t>
            </a:r>
            <a:endParaRPr lang="en-US" sz="1600" dirty="0"/>
          </a:p>
        </p:txBody>
      </p:sp>
      <p:sp>
        <p:nvSpPr>
          <p:cNvPr id="14" name="Text 8"/>
          <p:cNvSpPr txBox="1"/>
          <p:nvPr/>
        </p:nvSpPr>
        <p:spPr>
          <a:xfrm>
            <a:off x="3584448"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REFERENCE_MATNR + COPY_ flags copy whole areas; typed values win</a:t>
            </a:r>
            <a:endParaRPr lang="en-US" sz="1300" dirty="0"/>
          </a:p>
        </p:txBody>
      </p:sp>
      <p:sp>
        <p:nvSpPr>
          <p:cNvPr id="15" name="card"/>
          <p:cNvSpPr/>
          <p:nvPr/>
        </p:nvSpPr>
        <p:spPr>
          <a:xfrm>
            <a:off x="6163056" y="4069080"/>
            <a:ext cx="2606040" cy="2057400"/>
          </a:xfrm>
          <a:prstGeom prst="roundRect">
            <a:avLst>
              <a:gd name="adj" fmla="val 3556"/>
            </a:avLst>
          </a:prstGeom>
          <a:solidFill>
            <a:schemeClr val="bg2"/>
          </a:solidFill>
          <a:ln/>
        </p:spPr>
      </p:sp>
      <p:sp>
        <p:nvSpPr>
          <p:cNvPr id="16" name="icon bg FaMagic"/>
          <p:cNvSpPr/>
          <p:nvPr/>
        </p:nvSpPr>
        <p:spPr>
          <a:xfrm>
            <a:off x="6391656" y="4251960"/>
            <a:ext cx="548640" cy="548640"/>
          </a:xfrm>
          <a:prstGeom prst="ellipse">
            <a:avLst/>
          </a:prstGeom>
          <a:solidFill>
            <a:schemeClr val="accent1"/>
          </a:solidFill>
          <a:ln/>
        </p:spPr>
      </p:sp>
      <p:pic>
        <p:nvPicPr>
          <p:cNvPr id="17" name="icon FaMagic" descr="preencoded.png">    </p:cNvPr>
          <p:cNvPicPr>
            <a:picLocks noChangeAspect="1"/>
          </p:cNvPicPr>
          <p:nvPr/>
        </p:nvPicPr>
        <p:blipFill>
          <a:blip r:embed="rId4"/>
          <a:stretch>
            <a:fillRect/>
          </a:stretch>
        </p:blipFill>
        <p:spPr>
          <a:xfrm>
            <a:off x="6528816" y="4389120"/>
            <a:ext cx="274320" cy="274320"/>
          </a:xfrm>
          <a:prstGeom prst="rect">
            <a:avLst/>
          </a:prstGeom>
        </p:spPr>
      </p:pic>
      <p:sp>
        <p:nvSpPr>
          <p:cNvPr id="18" name="Text 11"/>
          <p:cNvSpPr txBox="1"/>
          <p:nvPr/>
        </p:nvSpPr>
        <p:spPr>
          <a:xfrm>
            <a:off x="7077456"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Defaults</a:t>
            </a:r>
            <a:endParaRPr lang="en-US" sz="1600" dirty="0"/>
          </a:p>
        </p:txBody>
      </p:sp>
      <p:sp>
        <p:nvSpPr>
          <p:cNvPr id="19" name="Text 12"/>
          <p:cNvSpPr txBox="1"/>
          <p:nvPr/>
        </p:nvSpPr>
        <p:spPr>
          <a:xfrm>
            <a:off x="6391656"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Empty fields filled with configured default values</a:t>
            </a:r>
            <a:endParaRPr lang="en-US" sz="1300" dirty="0"/>
          </a:p>
        </p:txBody>
      </p:sp>
      <p:sp>
        <p:nvSpPr>
          <p:cNvPr id="20" name="card"/>
          <p:cNvSpPr/>
          <p:nvPr/>
        </p:nvSpPr>
        <p:spPr>
          <a:xfrm>
            <a:off x="8970264" y="4069080"/>
            <a:ext cx="2606040" cy="2057400"/>
          </a:xfrm>
          <a:prstGeom prst="roundRect">
            <a:avLst>
              <a:gd name="adj" fmla="val 3556"/>
            </a:avLst>
          </a:prstGeom>
          <a:solidFill>
            <a:schemeClr val="bg2"/>
          </a:solidFill>
          <a:ln/>
        </p:spPr>
      </p:sp>
      <p:sp>
        <p:nvSpPr>
          <p:cNvPr id="21" name="icon bg FaBan"/>
          <p:cNvSpPr/>
          <p:nvPr/>
        </p:nvSpPr>
        <p:spPr>
          <a:xfrm>
            <a:off x="9198864" y="4251960"/>
            <a:ext cx="548640" cy="548640"/>
          </a:xfrm>
          <a:prstGeom prst="ellipse">
            <a:avLst/>
          </a:prstGeom>
          <a:solidFill>
            <a:schemeClr val="accent1"/>
          </a:solidFill>
          <a:ln/>
        </p:spPr>
      </p:sp>
      <p:pic>
        <p:nvPicPr>
          <p:cNvPr id="22" name="icon FaBan" descr="preencoded.png">    </p:cNvPr>
          <p:cNvPicPr>
            <a:picLocks noChangeAspect="1"/>
          </p:cNvPicPr>
          <p:nvPr/>
        </p:nvPicPr>
        <p:blipFill>
          <a:blip r:embed="rId5"/>
          <a:stretch>
            <a:fillRect/>
          </a:stretch>
        </p:blipFill>
        <p:spPr>
          <a:xfrm>
            <a:off x="9336024" y="4389120"/>
            <a:ext cx="274320" cy="274320"/>
          </a:xfrm>
          <a:prstGeom prst="rect">
            <a:avLst/>
          </a:prstGeom>
        </p:spPr>
      </p:pic>
      <p:sp>
        <p:nvSpPr>
          <p:cNvPr id="23" name="Text 15"/>
          <p:cNvSpPr txBox="1"/>
          <p:nvPr/>
        </p:nvSpPr>
        <p:spPr>
          <a:xfrm>
            <a:off x="9884664"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Duplicate check</a:t>
            </a:r>
            <a:endParaRPr lang="en-US" sz="1600" dirty="0"/>
          </a:p>
        </p:txBody>
      </p:sp>
      <p:sp>
        <p:nvSpPr>
          <p:cNvPr id="24" name="Text 16"/>
          <p:cNvSpPr txBox="1"/>
          <p:nvPr/>
        </p:nvSpPr>
        <p:spPr>
          <a:xfrm>
            <a:off x="9198864"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"Material already exists - use Update or Extend"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Material number protection</a:t>
            </a:r>
            <a:endParaRPr lang="en-US" sz="3200" dirty="0"/>
          </a:p>
        </p:txBody>
      </p:sp>
      <p:sp>
        <p:nvSpPr>
          <p:cNvPr id="4" name="card"/>
          <p:cNvSpPr/>
          <p:nvPr/>
        </p:nvSpPr>
        <p:spPr>
          <a:xfrm>
            <a:off x="548640" y="1554480"/>
            <a:ext cx="2514600" cy="2651760"/>
          </a:xfrm>
          <a:prstGeom prst="roundRect">
            <a:avLst>
              <a:gd name="adj" fmla="val 2909"/>
            </a:avLst>
          </a:prstGeom>
          <a:solidFill>
            <a:schemeClr val="bg2"/>
          </a:solidFill>
          <a:ln/>
        </p:spPr>
      </p:sp>
      <p:sp>
        <p:nvSpPr>
          <p:cNvPr id="5" name="icon bg FaFlask"/>
          <p:cNvSpPr/>
          <p:nvPr/>
        </p:nvSpPr>
        <p:spPr>
          <a:xfrm>
            <a:off x="1371600" y="1783080"/>
            <a:ext cx="868680" cy="868680"/>
          </a:xfrm>
          <a:prstGeom prst="ellipse">
            <a:avLst/>
          </a:prstGeom>
          <a:solidFill>
            <a:schemeClr val="accent1"/>
          </a:solidFill>
          <a:ln/>
        </p:spPr>
      </p:sp>
      <p:pic>
        <p:nvPicPr>
          <p:cNvPr id="6" name="icon FaFlask" descr="preencoded.png">    </p:cNvPr>
          <p:cNvPicPr>
            <a:picLocks noChangeAspect="1"/>
          </p:cNvPicPr>
          <p:nvPr/>
        </p:nvPicPr>
        <p:blipFill>
          <a:blip r:embed="rId1"/>
          <a:stretch>
            <a:fillRect/>
          </a:stretch>
        </p:blipFill>
        <p:spPr>
          <a:xfrm>
            <a:off x="1588770" y="2000250"/>
            <a:ext cx="434340" cy="434340"/>
          </a:xfrm>
          <a:prstGeom prst="rect">
            <a:avLst/>
          </a:prstGeom>
        </p:spPr>
      </p:pic>
      <p:sp>
        <p:nvSpPr>
          <p:cNvPr id="7" name="Text 3"/>
          <p:cNvSpPr txBox="1"/>
          <p:nvPr/>
        </p:nvSpPr>
        <p:spPr>
          <a:xfrm>
            <a:off x="54864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Simulate</a:t>
            </a:r>
            <a:endParaRPr lang="en-US" sz="1900" dirty="0"/>
          </a:p>
        </p:txBody>
      </p:sp>
      <p:sp>
        <p:nvSpPr>
          <p:cNvPr id="8" name="Text 4"/>
          <p:cNvSpPr txBox="1"/>
          <p:nvPr/>
        </p:nvSpPr>
        <p:spPr>
          <a:xfrm>
            <a:off x="68580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Row checked with TEMPMATNR_&lt;row&gt;</a:t>
            </a:r>
            <a:endParaRPr lang="en-US" sz="1300" dirty="0"/>
          </a:p>
        </p:txBody>
      </p:sp>
      <p:sp>
        <p:nvSpPr>
          <p:cNvPr id="9" name="arrow"/>
          <p:cNvSpPr/>
          <p:nvPr/>
        </p:nvSpPr>
        <p:spPr>
          <a:xfrm>
            <a:off x="3108960" y="2743200"/>
            <a:ext cx="274320" cy="292608"/>
          </a:xfrm>
          <a:prstGeom prst="rightArrow">
            <a:avLst/>
          </a:prstGeom>
          <a:solidFill>
            <a:schemeClr val="accent5"/>
          </a:solidFill>
          <a:ln/>
        </p:spPr>
      </p:sp>
      <p:sp>
        <p:nvSpPr>
          <p:cNvPr id="10" name="card"/>
          <p:cNvSpPr/>
          <p:nvPr/>
        </p:nvSpPr>
        <p:spPr>
          <a:xfrm>
            <a:off x="3429000" y="1554480"/>
            <a:ext cx="2514600" cy="2651760"/>
          </a:xfrm>
          <a:prstGeom prst="roundRect">
            <a:avLst>
              <a:gd name="adj" fmla="val 2909"/>
            </a:avLst>
          </a:prstGeom>
          <a:solidFill>
            <a:schemeClr val="bg2"/>
          </a:solidFill>
          <a:ln/>
        </p:spPr>
      </p:sp>
      <p:sp>
        <p:nvSpPr>
          <p:cNvPr id="11" name="icon bg FaCheckCircle"/>
          <p:cNvSpPr/>
          <p:nvPr/>
        </p:nvSpPr>
        <p:spPr>
          <a:xfrm>
            <a:off x="4251960" y="1783080"/>
            <a:ext cx="868680" cy="868680"/>
          </a:xfrm>
          <a:prstGeom prst="ellipse">
            <a:avLst/>
          </a:prstGeom>
          <a:solidFill>
            <a:schemeClr val="accent4"/>
          </a:solidFill>
          <a:ln/>
        </p:spPr>
      </p:sp>
      <p:pic>
        <p:nvPicPr>
          <p:cNvPr id="12" name="icon FaCheckCircle" descr="preencoded.png">    </p:cNvPr>
          <p:cNvPicPr>
            <a:picLocks noChangeAspect="1"/>
          </p:cNvPicPr>
          <p:nvPr/>
        </p:nvPicPr>
        <p:blipFill>
          <a:blip r:embed="rId2"/>
          <a:stretch>
            <a:fillRect/>
          </a:stretch>
        </p:blipFill>
        <p:spPr>
          <a:xfrm>
            <a:off x="4469130" y="2000250"/>
            <a:ext cx="434340" cy="434340"/>
          </a:xfrm>
          <a:prstGeom prst="rect">
            <a:avLst/>
          </a:prstGeom>
        </p:spPr>
      </p:pic>
      <p:sp>
        <p:nvSpPr>
          <p:cNvPr id="13" name="Text 8"/>
          <p:cNvSpPr txBox="1"/>
          <p:nvPr/>
        </p:nvSpPr>
        <p:spPr>
          <a:xfrm>
            <a:off x="342900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Clean?</a:t>
            </a:r>
            <a:endParaRPr lang="en-US" sz="1900" dirty="0"/>
          </a:p>
        </p:txBody>
      </p:sp>
      <p:sp>
        <p:nvSpPr>
          <p:cNvPr id="14" name="Text 9"/>
          <p:cNvSpPr txBox="1"/>
          <p:nvPr/>
        </p:nvSpPr>
        <p:spPr>
          <a:xfrm>
            <a:off x="356616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No errors in the simulation</a:t>
            </a:r>
            <a:endParaRPr lang="en-US" sz="1300" dirty="0"/>
          </a:p>
        </p:txBody>
      </p:sp>
      <p:sp>
        <p:nvSpPr>
          <p:cNvPr id="15" name="arrow"/>
          <p:cNvSpPr/>
          <p:nvPr/>
        </p:nvSpPr>
        <p:spPr>
          <a:xfrm>
            <a:off x="5989320" y="2743200"/>
            <a:ext cx="274320" cy="292608"/>
          </a:xfrm>
          <a:prstGeom prst="rightArrow">
            <a:avLst/>
          </a:prstGeom>
          <a:solidFill>
            <a:schemeClr val="accent5"/>
          </a:solidFill>
          <a:ln/>
        </p:spPr>
      </p:sp>
      <p:sp>
        <p:nvSpPr>
          <p:cNvPr id="16" name="card"/>
          <p:cNvSpPr/>
          <p:nvPr/>
        </p:nvSpPr>
        <p:spPr>
          <a:xfrm>
            <a:off x="6309360" y="1554480"/>
            <a:ext cx="2514600" cy="2651760"/>
          </a:xfrm>
          <a:prstGeom prst="roundRect">
            <a:avLst>
              <a:gd name="adj" fmla="val 2909"/>
            </a:avLst>
          </a:prstGeom>
          <a:solidFill>
            <a:schemeClr val="bg2"/>
          </a:solidFill>
          <a:ln/>
        </p:spPr>
      </p:sp>
      <p:sp>
        <p:nvSpPr>
          <p:cNvPr id="17" name="icon bg FaHashtag"/>
          <p:cNvSpPr/>
          <p:nvPr/>
        </p:nvSpPr>
        <p:spPr>
          <a:xfrm>
            <a:off x="7132320" y="1783080"/>
            <a:ext cx="868680" cy="868680"/>
          </a:xfrm>
          <a:prstGeom prst="ellipse">
            <a:avLst/>
          </a:prstGeom>
          <a:solidFill>
            <a:schemeClr val="accent2"/>
          </a:solidFill>
          <a:ln/>
        </p:spPr>
      </p:sp>
      <p:pic>
        <p:nvPicPr>
          <p:cNvPr id="18" name="icon FaHashtag" descr="preencoded.png">    </p:cNvPr>
          <p:cNvPicPr>
            <a:picLocks noChangeAspect="1"/>
          </p:cNvPicPr>
          <p:nvPr/>
        </p:nvPicPr>
        <p:blipFill>
          <a:blip r:embed="rId3"/>
          <a:stretch>
            <a:fillRect/>
          </a:stretch>
        </p:blipFill>
        <p:spPr>
          <a:xfrm>
            <a:off x="7349490" y="2000250"/>
            <a:ext cx="434340" cy="434340"/>
          </a:xfrm>
          <a:prstGeom prst="rect">
            <a:avLst/>
          </a:prstGeom>
        </p:spPr>
      </p:pic>
      <p:sp>
        <p:nvSpPr>
          <p:cNvPr id="19" name="Text 13"/>
          <p:cNvSpPr txBox="1"/>
          <p:nvPr/>
        </p:nvSpPr>
        <p:spPr>
          <a:xfrm>
            <a:off x="630936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Draw number</a:t>
            </a:r>
            <a:endParaRPr lang="en-US" sz="1900" dirty="0"/>
          </a:p>
        </p:txBody>
      </p:sp>
      <p:sp>
        <p:nvSpPr>
          <p:cNvPr id="20" name="Text 14"/>
          <p:cNvSpPr txBox="1"/>
          <p:nvPr/>
        </p:nvSpPr>
        <p:spPr>
          <a:xfrm>
            <a:off x="644652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BAPI_MATERIAL_GETINTNUMBER</a:t>
            </a:r>
            <a:endParaRPr lang="en-US" sz="1300" dirty="0"/>
          </a:p>
        </p:txBody>
      </p:sp>
      <p:sp>
        <p:nvSpPr>
          <p:cNvPr id="21" name="arrow"/>
          <p:cNvSpPr/>
          <p:nvPr/>
        </p:nvSpPr>
        <p:spPr>
          <a:xfrm>
            <a:off x="8869680" y="2743200"/>
            <a:ext cx="274320" cy="292608"/>
          </a:xfrm>
          <a:prstGeom prst="rightArrow">
            <a:avLst/>
          </a:prstGeom>
          <a:solidFill>
            <a:schemeClr val="accent5"/>
          </a:solidFill>
          <a:ln/>
        </p:spPr>
      </p:sp>
      <p:sp>
        <p:nvSpPr>
          <p:cNvPr id="22" name="card"/>
          <p:cNvSpPr/>
          <p:nvPr/>
        </p:nvSpPr>
        <p:spPr>
          <a:xfrm>
            <a:off x="9189720" y="1554480"/>
            <a:ext cx="2514600" cy="2651760"/>
          </a:xfrm>
          <a:prstGeom prst="roundRect">
            <a:avLst>
              <a:gd name="adj" fmla="val 2909"/>
            </a:avLst>
          </a:prstGeom>
          <a:solidFill>
            <a:schemeClr val="bg2"/>
          </a:solidFill>
          <a:ln/>
        </p:spPr>
      </p:sp>
      <p:sp>
        <p:nvSpPr>
          <p:cNvPr id="23" name="icon bg FaSave"/>
          <p:cNvSpPr/>
          <p:nvPr/>
        </p:nvSpPr>
        <p:spPr>
          <a:xfrm>
            <a:off x="10012680" y="1783080"/>
            <a:ext cx="868680" cy="868680"/>
          </a:xfrm>
          <a:prstGeom prst="ellipse">
            <a:avLst/>
          </a:prstGeom>
          <a:solidFill>
            <a:schemeClr val="accent1"/>
          </a:solidFill>
          <a:ln/>
        </p:spPr>
      </p:sp>
      <p:pic>
        <p:nvPicPr>
          <p:cNvPr id="24" name="icon FaSave" descr="preencoded.png">    </p:cNvPr>
          <p:cNvPicPr>
            <a:picLocks noChangeAspect="1"/>
          </p:cNvPicPr>
          <p:nvPr/>
        </p:nvPicPr>
        <p:blipFill>
          <a:blip r:embed="rId4"/>
          <a:stretch>
            <a:fillRect/>
          </a:stretch>
        </p:blipFill>
        <p:spPr>
          <a:xfrm>
            <a:off x="10229850" y="2000250"/>
            <a:ext cx="434340" cy="434340"/>
          </a:xfrm>
          <a:prstGeom prst="rect">
            <a:avLst/>
          </a:prstGeom>
        </p:spPr>
      </p:pic>
      <p:sp>
        <p:nvSpPr>
          <p:cNvPr id="25" name="Text 18"/>
          <p:cNvSpPr txBox="1"/>
          <p:nvPr/>
        </p:nvSpPr>
        <p:spPr>
          <a:xfrm>
            <a:off x="9189720" y="2788920"/>
            <a:ext cx="2514600" cy="457200"/>
          </a:xfrm>
          <a:prstGeom prst="rect">
            <a:avLst/>
          </a:prstGeom>
          <a:noFill/>
          <a:ln/>
        </p:spPr>
        <p:txBody>
          <a:bodyPr wrap="square" lIns="0" tIns="0" rIns="0" bIns="0" rtlCol="0" anchor="t"/>
          <a:lstStyle/>
          <a:p>
            <a:pPr algn="ctr" indent="0" marL="0">
              <a:buNone/>
            </a:pPr>
            <a:r>
              <a:rPr lang="en-US" sz="1900" b="1" dirty="0">
                <a:solidFill>
                  <a:schemeClr val="tx2"/>
                </a:solidFill>
              </a:rPr>
              <a:t>Post</a:t>
            </a:r>
            <a:endParaRPr lang="en-US" sz="1900" dirty="0"/>
          </a:p>
        </p:txBody>
      </p:sp>
      <p:sp>
        <p:nvSpPr>
          <p:cNvPr id="26" name="Text 19"/>
          <p:cNvSpPr txBox="1"/>
          <p:nvPr/>
        </p:nvSpPr>
        <p:spPr>
          <a:xfrm>
            <a:off x="9326880" y="3246120"/>
            <a:ext cx="2240280" cy="822960"/>
          </a:xfrm>
          <a:prstGeom prst="rect">
            <a:avLst/>
          </a:prstGeom>
          <a:noFill/>
          <a:ln/>
        </p:spPr>
        <p:txBody>
          <a:bodyPr wrap="square" lIns="0" tIns="0" rIns="0" bIns="0" rtlCol="0" anchor="t"/>
          <a:lstStyle/>
          <a:p>
            <a:pPr algn="ctr" indent="0" marL="0">
              <a:buNone/>
            </a:pPr>
            <a:r>
              <a:rPr lang="en-US" sz="1300" dirty="0">
                <a:solidFill>
                  <a:schemeClr val="accent5"/>
                </a:solidFill>
              </a:rPr>
              <a:t>SAVEREPLICA + commit</a:t>
            </a:r>
            <a:endParaRPr lang="en-US" sz="1300" dirty="0"/>
          </a:p>
        </p:txBody>
      </p:sp>
      <p:sp>
        <p:nvSpPr>
          <p:cNvPr id="27" name="card"/>
          <p:cNvSpPr/>
          <p:nvPr/>
        </p:nvSpPr>
        <p:spPr>
          <a:xfrm>
            <a:off x="548640" y="4572000"/>
            <a:ext cx="11064240" cy="1463040"/>
          </a:xfrm>
          <a:prstGeom prst="roundRect">
            <a:avLst>
              <a:gd name="adj" fmla="val 5000"/>
            </a:avLst>
          </a:prstGeom>
          <a:solidFill>
            <a:srgbClr val="FBEAEA"/>
          </a:solidFill>
          <a:ln/>
        </p:spPr>
      </p:sp>
      <p:sp>
        <p:nvSpPr>
          <p:cNvPr id="28" name="icon bg FaTimesCircle"/>
          <p:cNvSpPr/>
          <p:nvPr/>
        </p:nvSpPr>
        <p:spPr>
          <a:xfrm>
            <a:off x="822960" y="4892040"/>
            <a:ext cx="731520" cy="731520"/>
          </a:xfrm>
          <a:prstGeom prst="ellipse">
            <a:avLst/>
          </a:prstGeom>
          <a:solidFill>
            <a:schemeClr val="accent3"/>
          </a:solidFill>
          <a:ln/>
        </p:spPr>
      </p:sp>
      <p:pic>
        <p:nvPicPr>
          <p:cNvPr id="29" name="icon FaTimesCircle" descr="preencoded.png">    </p:cNvPr>
          <p:cNvPicPr>
            <a:picLocks noChangeAspect="1"/>
          </p:cNvPicPr>
          <p:nvPr/>
        </p:nvPicPr>
        <p:blipFill>
          <a:blip r:embed="rId5"/>
          <a:stretch>
            <a:fillRect/>
          </a:stretch>
        </p:blipFill>
        <p:spPr>
          <a:xfrm>
            <a:off x="1005840" y="5074920"/>
            <a:ext cx="365760" cy="365760"/>
          </a:xfrm>
          <a:prstGeom prst="rect">
            <a:avLst/>
          </a:prstGeom>
        </p:spPr>
      </p:pic>
      <p:sp>
        <p:nvSpPr>
          <p:cNvPr id="30" name="Text 22"/>
          <p:cNvSpPr txBox="1"/>
          <p:nvPr/>
        </p:nvSpPr>
        <p:spPr>
          <a:xfrm>
            <a:off x="1828800" y="4709160"/>
            <a:ext cx="9509760" cy="1188720"/>
          </a:xfrm>
          <a:prstGeom prst="rect">
            <a:avLst/>
          </a:prstGeom>
          <a:noFill/>
          <a:ln/>
        </p:spPr>
        <p:txBody>
          <a:bodyPr wrap="square" lIns="0" tIns="0" rIns="0" bIns="0" rtlCol="0" anchor="ctr"/>
          <a:lstStyle/>
          <a:p>
            <a:pPr indent="0" marL="0">
              <a:buNone/>
            </a:pPr>
            <a:r>
              <a:rPr lang="en-US" sz="1600" b="1" dirty="0">
                <a:solidFill>
                  <a:schemeClr val="tx1"/>
                </a:solidFill>
              </a:rPr>
              <a:t>Simulation fails  -&gt;  </a:t>
            </a:r>
            <a:pPr indent="0" marL="0">
              <a:buNone/>
            </a:pPr>
            <a:r>
              <a:rPr lang="en-US" sz="1600" dirty="0">
                <a:solidFill>
                  <a:schemeClr val="tx1"/>
                </a:solidFill>
              </a:rPr>
              <a:t>no number is drawn, the row is reported as "Posting skipped - material has validation errors". The number range has no gaps from bad data.</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 change existing materials</a:t>
            </a:r>
            <a:endParaRPr lang="en-US" sz="3200" dirty="0"/>
          </a:p>
        </p:txBody>
      </p:sp>
      <p:pic>
        <p:nvPicPr>
          <p:cNvPr id="4" name="figure tpl_update.png" descr="/tmp/claude-0/-home-user-zmm-material-maintenance/1352b8c0-3fee-5073-834d-e95bee04ea8d/scratchpad/ppt/../doc/img/tpl_update.png">    </p:cNvPr>
          <p:cNvPicPr>
            <a:picLocks noChangeAspect="1"/>
          </p:cNvPicPr>
          <p:nvPr/>
        </p:nvPicPr>
        <p:blipFill>
          <a:blip r:embed="rId1"/>
          <a:stretch>
            <a:fillRect/>
          </a:stretch>
        </p:blipFill>
        <p:spPr>
          <a:xfrm>
            <a:off x="548640" y="1280160"/>
            <a:ext cx="6035040" cy="213741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6903720" y="1280160"/>
            <a:ext cx="4709160" cy="4800600"/>
          </a:xfrm>
          <a:prstGeom prst="roundRect">
            <a:avLst>
              <a:gd name="adj" fmla="val 1553"/>
            </a:avLst>
          </a:prstGeom>
          <a:solidFill>
            <a:schemeClr val="bg2"/>
          </a:solidFill>
          <a:ln/>
        </p:spPr>
      </p:sp>
      <p:sp>
        <p:nvSpPr>
          <p:cNvPr id="6" name="icon bg FaEdit"/>
          <p:cNvSpPr/>
          <p:nvPr/>
        </p:nvSpPr>
        <p:spPr>
          <a:xfrm>
            <a:off x="7178040" y="1508760"/>
            <a:ext cx="640080" cy="640080"/>
          </a:xfrm>
          <a:prstGeom prst="ellipse">
            <a:avLst/>
          </a:prstGeom>
          <a:solidFill>
            <a:schemeClr val="accent2"/>
          </a:solidFill>
          <a:ln/>
        </p:spPr>
      </p:sp>
      <p:pic>
        <p:nvPicPr>
          <p:cNvPr id="7" name="icon FaEdit" descr="preencoded.png">    </p:cNvPr>
          <p:cNvPicPr>
            <a:picLocks noChangeAspect="1"/>
          </p:cNvPicPr>
          <p:nvPr/>
        </p:nvPicPr>
        <p:blipFill>
          <a:blip r:embed="rId2"/>
          <a:stretch>
            <a:fillRect/>
          </a:stretch>
        </p:blipFill>
        <p:spPr>
          <a:xfrm>
            <a:off x="7338060" y="1668780"/>
            <a:ext cx="320040" cy="320040"/>
          </a:xfrm>
          <a:prstGeom prst="rect">
            <a:avLst/>
          </a:prstGeom>
        </p:spPr>
      </p:pic>
      <p:sp>
        <p:nvSpPr>
          <p:cNvPr id="8" name="Text 3"/>
          <p:cNvSpPr txBox="1"/>
          <p:nvPr/>
        </p:nvSpPr>
        <p:spPr>
          <a:xfrm>
            <a:off x="8001000" y="1554480"/>
            <a:ext cx="3474720" cy="548640"/>
          </a:xfrm>
          <a:prstGeom prst="rect">
            <a:avLst/>
          </a:prstGeom>
          <a:noFill/>
          <a:ln/>
        </p:spPr>
        <p:txBody>
          <a:bodyPr wrap="square" lIns="0" tIns="0" rIns="0" bIns="0" rtlCol="0" anchor="ctr"/>
          <a:lstStyle/>
          <a:p>
            <a:pPr indent="0" marL="0">
              <a:buNone/>
            </a:pPr>
            <a:r>
              <a:rPr lang="en-US" sz="2000" b="1" dirty="0">
                <a:solidFill>
                  <a:schemeClr val="tx2"/>
                </a:solidFill>
              </a:rPr>
              <a:t>Key behaviour</a:t>
            </a:r>
            <a:endParaRPr lang="en-US" sz="2000" dirty="0"/>
          </a:p>
        </p:txBody>
      </p:sp>
      <p:sp>
        <p:nvSpPr>
          <p:cNvPr id="9" name="Text 4"/>
          <p:cNvSpPr txBox="1"/>
          <p:nvPr/>
        </p:nvSpPr>
        <p:spPr>
          <a:xfrm>
            <a:off x="7178040" y="2331720"/>
            <a:ext cx="420624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MATNR must exist - otherwise error</a:t>
            </a:r>
            <a:endParaRPr lang="en-US" sz="1500" dirty="0"/>
          </a:p>
          <a:p>
            <a:pPr marL="203200" indent="-203200">
              <a:spcAft>
                <a:spcPts val="800"/>
              </a:spcAft>
              <a:buSzPct val="100000"/>
              <a:buChar char="•"/>
            </a:pPr>
            <a:r>
              <a:rPr lang="en-US" sz="1500" dirty="0">
                <a:solidFill>
                  <a:schemeClr val="tx1"/>
                </a:solidFill>
              </a:rPr>
              <a:t>Only filled cells are sent (X-flag set per field)</a:t>
            </a:r>
            <a:endParaRPr lang="en-US" sz="1500" dirty="0"/>
          </a:p>
          <a:p>
            <a:pPr marL="203200" indent="-203200">
              <a:spcAft>
                <a:spcPts val="800"/>
              </a:spcAft>
              <a:buSzPct val="100000"/>
              <a:buChar char="•"/>
            </a:pPr>
            <a:r>
              <a:rPr lang="en-US" sz="1500" dirty="0">
                <a:solidFill>
                  <a:schemeClr val="tx1"/>
                </a:solidFill>
              </a:rPr>
              <a:t>Empty cell = no change, never a delete</a:t>
            </a:r>
            <a:endParaRPr lang="en-US" sz="1500" dirty="0"/>
          </a:p>
          <a:p>
            <a:pPr marL="203200" indent="-203200">
              <a:spcAft>
                <a:spcPts val="800"/>
              </a:spcAft>
              <a:buSzPct val="100000"/>
              <a:buChar char="•"/>
            </a:pPr>
            <a:r>
              <a:rPr lang="en-US" sz="1500" dirty="0">
                <a:solidFill>
                  <a:schemeClr val="tx1"/>
                </a:solidFill>
              </a:rPr>
              <a:t>Org. level must already exist - new ones go through Extend</a:t>
            </a:r>
            <a:endParaRPr lang="en-US" sz="1500" dirty="0"/>
          </a:p>
          <a:p>
            <a:pPr marL="203200" indent="-203200">
              <a:spcAft>
                <a:spcPts val="800"/>
              </a:spcAft>
              <a:buSzPct val="100000"/>
              <a:buChar char="•"/>
            </a:pPr>
            <a:r>
              <a:rPr lang="en-US" sz="1500" dirty="0">
                <a:solidFill>
                  <a:schemeClr val="tx1"/>
                </a:solidFill>
              </a:rPr>
              <a:t>Classification, texts and product hierarchy can be changed too</a:t>
            </a:r>
            <a:endParaRPr lang="en-US" sz="1500" dirty="0"/>
          </a:p>
          <a:p>
            <a:pPr marL="203200" indent="-203200">
              <a:spcAft>
                <a:spcPts val="800"/>
              </a:spcAft>
              <a:buSzPct val="100000"/>
              <a:buChar char="•"/>
            </a:pPr>
            <a:r>
              <a:rPr lang="en-US" sz="1500" dirty="0">
                <a:solidFill>
                  <a:schemeClr val="tx1"/>
                </a:solidFill>
              </a:rPr>
              <a:t>Reference copy and defaults are not used</a:t>
            </a:r>
            <a:endParaRPr lang="en-US" sz="1500" dirty="0"/>
          </a:p>
        </p:txBody>
      </p:sp>
      <p:sp>
        <p:nvSpPr>
          <p:cNvPr id="10" name="card"/>
          <p:cNvSpPr/>
          <p:nvPr/>
        </p:nvSpPr>
        <p:spPr>
          <a:xfrm>
            <a:off x="548640" y="3977640"/>
            <a:ext cx="6035040" cy="2103120"/>
          </a:xfrm>
          <a:prstGeom prst="roundRect">
            <a:avLst>
              <a:gd name="adj" fmla="val 3478"/>
            </a:avLst>
          </a:prstGeom>
          <a:solidFill>
            <a:schemeClr val="bg2"/>
          </a:solidFill>
          <a:ln/>
        </p:spPr>
      </p:sp>
      <p:sp>
        <p:nvSpPr>
          <p:cNvPr id="11" name="Text 6"/>
          <p:cNvSpPr txBox="1"/>
          <p:nvPr/>
        </p:nvSpPr>
        <p:spPr>
          <a:xfrm>
            <a:off x="822960" y="4114800"/>
            <a:ext cx="5486400" cy="365760"/>
          </a:xfrm>
          <a:prstGeom prst="rect">
            <a:avLst/>
          </a:prstGeom>
          <a:noFill/>
          <a:ln/>
        </p:spPr>
        <p:txBody>
          <a:bodyPr wrap="square" lIns="0" tIns="0" rIns="0" bIns="0" rtlCol="0" anchor="t"/>
          <a:lstStyle/>
          <a:p>
            <a:pPr indent="0" marL="0">
              <a:buNone/>
            </a:pPr>
            <a:r>
              <a:rPr lang="en-US" sz="1600" b="1" dirty="0">
                <a:solidFill>
                  <a:schemeClr val="tx2"/>
                </a:solidFill>
              </a:rPr>
              <a:t>Example</a:t>
            </a:r>
            <a:endParaRPr lang="en-US" sz="1600" dirty="0"/>
          </a:p>
        </p:txBody>
      </p:sp>
      <p:sp>
        <p:nvSpPr>
          <p:cNvPr id="12" name="Text 7"/>
          <p:cNvSpPr txBox="1"/>
          <p:nvPr/>
        </p:nvSpPr>
        <p:spPr>
          <a:xfrm>
            <a:off x="822960" y="4526280"/>
            <a:ext cx="5577840" cy="1463040"/>
          </a:xfrm>
          <a:prstGeom prst="rect">
            <a:avLst/>
          </a:prstGeom>
          <a:noFill/>
          <a:ln/>
        </p:spPr>
        <p:txBody>
          <a:bodyPr wrap="square" lIns="0" tIns="0" rIns="0" bIns="0" rtlCol="0" anchor="t"/>
          <a:lstStyle/>
          <a:p>
            <a:pPr indent="0" marL="0">
              <a:buNone/>
            </a:pPr>
            <a:r>
              <a:rPr lang="en-US" sz="1500" dirty="0">
                <a:solidFill>
                  <a:schemeClr val="tx1"/>
                </a:solidFill>
              </a:rPr>
              <a:t>Row: ACTION = U, MATNR = 100245, WERKS = 1000, MINBE = 50</a:t>
            </a:r>
            <a:endParaRPr lang="en-US" sz="1500" dirty="0"/>
          </a:p>
          <a:p>
            <a:pPr indent="0" marL="0">
              <a:buNone/>
            </a:pPr>
            <a:r>
              <a:rPr lang="en-US" sz="1500" dirty="0">
                <a:solidFill>
                  <a:schemeClr val="tx1"/>
                </a:solidFill>
              </a:rPr>
              <a:t>-&gt;  only the reorder point of plant 1000 changes.</a:t>
            </a:r>
            <a:endParaRPr lang="en-US" sz="1500" dirty="0"/>
          </a:p>
          <a:p>
            <a:pPr indent="0" marL="0">
              <a:buNone/>
            </a:pPr>
            <a:r>
              <a:rPr lang="en-US" sz="1500" dirty="0">
                <a:solidFill>
                  <a:schemeClr val="tx1"/>
                </a:solidFill>
              </a:rPr>
              <a:t>All other fields of the material stay as they are.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EXTEND - add new org. levels</a:t>
            </a:r>
            <a:endParaRPr lang="en-US" sz="3200" dirty="0"/>
          </a:p>
        </p:txBody>
      </p:sp>
      <p:pic>
        <p:nvPicPr>
          <p:cNvPr id="4" name="figure tpl_extend.png" descr="/tmp/claude-0/-home-user-zmm-material-maintenance/1352b8c0-3fee-5073-834d-e95bee04ea8d/scratchpad/ppt/../doc/img/tpl_extend.png">    </p:cNvPr>
          <p:cNvPicPr>
            <a:picLocks noChangeAspect="1"/>
          </p:cNvPicPr>
          <p:nvPr/>
        </p:nvPicPr>
        <p:blipFill>
          <a:blip r:embed="rId1"/>
          <a:stretch>
            <a:fillRect/>
          </a:stretch>
        </p:blipFill>
        <p:spPr>
          <a:xfrm>
            <a:off x="2025127" y="1280160"/>
            <a:ext cx="8111266" cy="237744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69080"/>
            <a:ext cx="2606040" cy="2057400"/>
          </a:xfrm>
          <a:prstGeom prst="roundRect">
            <a:avLst>
              <a:gd name="adj" fmla="val 3556"/>
            </a:avLst>
          </a:prstGeom>
          <a:solidFill>
            <a:schemeClr val="bg2"/>
          </a:solidFill>
          <a:ln/>
        </p:spPr>
      </p:sp>
      <p:sp>
        <p:nvSpPr>
          <p:cNvPr id="6" name="icon bg FaWarehouse"/>
          <p:cNvSpPr/>
          <p:nvPr/>
        </p:nvSpPr>
        <p:spPr>
          <a:xfrm>
            <a:off x="777240" y="4251960"/>
            <a:ext cx="548640" cy="548640"/>
          </a:xfrm>
          <a:prstGeom prst="ellipse">
            <a:avLst/>
          </a:prstGeom>
          <a:solidFill>
            <a:schemeClr val="accent4"/>
          </a:solidFill>
          <a:ln/>
        </p:spPr>
      </p:sp>
      <p:pic>
        <p:nvPicPr>
          <p:cNvPr id="7" name="icon FaWarehouse" descr="preencoded.png">    </p:cNvPr>
          <p:cNvPicPr>
            <a:picLocks noChangeAspect="1"/>
          </p:cNvPicPr>
          <p:nvPr/>
        </p:nvPicPr>
        <p:blipFill>
          <a:blip r:embed="rId2"/>
          <a:stretch>
            <a:fillRect/>
          </a:stretch>
        </p:blipFill>
        <p:spPr>
          <a:xfrm>
            <a:off x="914400" y="4389120"/>
            <a:ext cx="274320" cy="274320"/>
          </a:xfrm>
          <a:prstGeom prst="rect">
            <a:avLst/>
          </a:prstGeom>
        </p:spPr>
      </p:pic>
      <p:sp>
        <p:nvSpPr>
          <p:cNvPr id="8" name="Text 3"/>
          <p:cNvSpPr txBox="1"/>
          <p:nvPr/>
        </p:nvSpPr>
        <p:spPr>
          <a:xfrm>
            <a:off x="1463040"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Plant / storage</a:t>
            </a:r>
            <a:endParaRPr lang="en-US" sz="1600" dirty="0"/>
          </a:p>
        </p:txBody>
      </p:sp>
      <p:sp>
        <p:nvSpPr>
          <p:cNvPr id="9" name="Text 4"/>
          <p:cNvSpPr txBox="1"/>
          <p:nvPr/>
        </p:nvSpPr>
        <p:spPr>
          <a:xfrm>
            <a:off x="777240"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WERKS, LGORT - MRP, purchasing, plant data</a:t>
            </a:r>
            <a:endParaRPr lang="en-US" sz="1300" dirty="0"/>
          </a:p>
        </p:txBody>
      </p:sp>
      <p:sp>
        <p:nvSpPr>
          <p:cNvPr id="10" name="card"/>
          <p:cNvSpPr/>
          <p:nvPr/>
        </p:nvSpPr>
        <p:spPr>
          <a:xfrm>
            <a:off x="3355848" y="4069080"/>
            <a:ext cx="2606040" cy="2057400"/>
          </a:xfrm>
          <a:prstGeom prst="roundRect">
            <a:avLst>
              <a:gd name="adj" fmla="val 3556"/>
            </a:avLst>
          </a:prstGeom>
          <a:solidFill>
            <a:schemeClr val="bg2"/>
          </a:solidFill>
          <a:ln/>
        </p:spPr>
      </p:sp>
      <p:sp>
        <p:nvSpPr>
          <p:cNvPr id="11" name="icon bg FaHandshake"/>
          <p:cNvSpPr/>
          <p:nvPr/>
        </p:nvSpPr>
        <p:spPr>
          <a:xfrm>
            <a:off x="3584448" y="4251960"/>
            <a:ext cx="548640" cy="548640"/>
          </a:xfrm>
          <a:prstGeom prst="ellipse">
            <a:avLst/>
          </a:prstGeom>
          <a:solidFill>
            <a:schemeClr val="accent4"/>
          </a:solidFill>
          <a:ln/>
        </p:spPr>
      </p:sp>
      <p:pic>
        <p:nvPicPr>
          <p:cNvPr id="12" name="icon FaHandshake" descr="preencoded.png">    </p:cNvPr>
          <p:cNvPicPr>
            <a:picLocks noChangeAspect="1"/>
          </p:cNvPicPr>
          <p:nvPr/>
        </p:nvPicPr>
        <p:blipFill>
          <a:blip r:embed="rId3"/>
          <a:stretch>
            <a:fillRect/>
          </a:stretch>
        </p:blipFill>
        <p:spPr>
          <a:xfrm>
            <a:off x="3721608" y="4389120"/>
            <a:ext cx="274320" cy="274320"/>
          </a:xfrm>
          <a:prstGeom prst="rect">
            <a:avLst/>
          </a:prstGeom>
        </p:spPr>
      </p:pic>
      <p:sp>
        <p:nvSpPr>
          <p:cNvPr id="13" name="Text 7"/>
          <p:cNvSpPr txBox="1"/>
          <p:nvPr/>
        </p:nvSpPr>
        <p:spPr>
          <a:xfrm>
            <a:off x="4270248"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Sales area</a:t>
            </a:r>
            <a:endParaRPr lang="en-US" sz="1600" dirty="0"/>
          </a:p>
        </p:txBody>
      </p:sp>
      <p:sp>
        <p:nvSpPr>
          <p:cNvPr id="14" name="Text 8"/>
          <p:cNvSpPr txBox="1"/>
          <p:nvPr/>
        </p:nvSpPr>
        <p:spPr>
          <a:xfrm>
            <a:off x="3584448"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VKORG + VTWEG together</a:t>
            </a:r>
            <a:endParaRPr lang="en-US" sz="1300" dirty="0"/>
          </a:p>
        </p:txBody>
      </p:sp>
      <p:sp>
        <p:nvSpPr>
          <p:cNvPr id="15" name="card"/>
          <p:cNvSpPr/>
          <p:nvPr/>
        </p:nvSpPr>
        <p:spPr>
          <a:xfrm>
            <a:off x="6163056" y="4069080"/>
            <a:ext cx="2606040" cy="2057400"/>
          </a:xfrm>
          <a:prstGeom prst="roundRect">
            <a:avLst>
              <a:gd name="adj" fmla="val 3556"/>
            </a:avLst>
          </a:prstGeom>
          <a:solidFill>
            <a:schemeClr val="bg2"/>
          </a:solidFill>
          <a:ln/>
        </p:spPr>
      </p:sp>
      <p:sp>
        <p:nvSpPr>
          <p:cNvPr id="16" name="icon bg FaCopy"/>
          <p:cNvSpPr/>
          <p:nvPr/>
        </p:nvSpPr>
        <p:spPr>
          <a:xfrm>
            <a:off x="6391656" y="4251960"/>
            <a:ext cx="548640" cy="548640"/>
          </a:xfrm>
          <a:prstGeom prst="ellipse">
            <a:avLst/>
          </a:prstGeom>
          <a:solidFill>
            <a:schemeClr val="accent4"/>
          </a:solidFill>
          <a:ln/>
        </p:spPr>
      </p:sp>
      <p:pic>
        <p:nvPicPr>
          <p:cNvPr id="17" name="icon FaCopy" descr="preencoded.png">    </p:cNvPr>
          <p:cNvPicPr>
            <a:picLocks noChangeAspect="1"/>
          </p:cNvPicPr>
          <p:nvPr/>
        </p:nvPicPr>
        <p:blipFill>
          <a:blip r:embed="rId4"/>
          <a:stretch>
            <a:fillRect/>
          </a:stretch>
        </p:blipFill>
        <p:spPr>
          <a:xfrm>
            <a:off x="6528816" y="4389120"/>
            <a:ext cx="274320" cy="274320"/>
          </a:xfrm>
          <a:prstGeom prst="rect">
            <a:avLst/>
          </a:prstGeom>
        </p:spPr>
      </p:pic>
      <p:sp>
        <p:nvSpPr>
          <p:cNvPr id="18" name="Text 11"/>
          <p:cNvSpPr txBox="1"/>
          <p:nvPr/>
        </p:nvSpPr>
        <p:spPr>
          <a:xfrm>
            <a:off x="7077456"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From reference</a:t>
            </a:r>
            <a:endParaRPr lang="en-US" sz="1600" dirty="0"/>
          </a:p>
        </p:txBody>
      </p:sp>
      <p:sp>
        <p:nvSpPr>
          <p:cNvPr id="19" name="Text 12"/>
          <p:cNvSpPr txBox="1"/>
          <p:nvPr/>
        </p:nvSpPr>
        <p:spPr>
          <a:xfrm>
            <a:off x="6391656"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REFERENCE_MATNR + REF_ levels + COPY_ flags</a:t>
            </a:r>
            <a:endParaRPr lang="en-US" sz="1300" dirty="0"/>
          </a:p>
        </p:txBody>
      </p:sp>
      <p:sp>
        <p:nvSpPr>
          <p:cNvPr id="20" name="card"/>
          <p:cNvSpPr/>
          <p:nvPr/>
        </p:nvSpPr>
        <p:spPr>
          <a:xfrm>
            <a:off x="8970264" y="4069080"/>
            <a:ext cx="2606040" cy="2057400"/>
          </a:xfrm>
          <a:prstGeom prst="roundRect">
            <a:avLst>
              <a:gd name="adj" fmla="val 3556"/>
            </a:avLst>
          </a:prstGeom>
          <a:solidFill>
            <a:schemeClr val="bg2"/>
          </a:solidFill>
          <a:ln/>
        </p:spPr>
      </p:sp>
      <p:sp>
        <p:nvSpPr>
          <p:cNvPr id="21" name="icon bg FaInfoCircle"/>
          <p:cNvSpPr/>
          <p:nvPr/>
        </p:nvSpPr>
        <p:spPr>
          <a:xfrm>
            <a:off x="9198864" y="4251960"/>
            <a:ext cx="548640" cy="548640"/>
          </a:xfrm>
          <a:prstGeom prst="ellipse">
            <a:avLst/>
          </a:prstGeom>
          <a:solidFill>
            <a:schemeClr val="accent4"/>
          </a:solidFill>
          <a:ln/>
        </p:spPr>
      </p:sp>
      <p:pic>
        <p:nvPicPr>
          <p:cNvPr id="22" name="icon FaInfoCircle" descr="preencoded.png">    </p:cNvPr>
          <p:cNvPicPr>
            <a:picLocks noChangeAspect="1"/>
          </p:cNvPicPr>
          <p:nvPr/>
        </p:nvPicPr>
        <p:blipFill>
          <a:blip r:embed="rId5"/>
          <a:stretch>
            <a:fillRect/>
          </a:stretch>
        </p:blipFill>
        <p:spPr>
          <a:xfrm>
            <a:off x="9336024" y="4389120"/>
            <a:ext cx="274320" cy="274320"/>
          </a:xfrm>
          <a:prstGeom prst="rect">
            <a:avLst/>
          </a:prstGeom>
        </p:spPr>
      </p:pic>
      <p:sp>
        <p:nvSpPr>
          <p:cNvPr id="23" name="Text 15"/>
          <p:cNvSpPr txBox="1"/>
          <p:nvPr/>
        </p:nvSpPr>
        <p:spPr>
          <a:xfrm>
            <a:off x="9884664" y="425196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Already there?</a:t>
            </a:r>
            <a:endParaRPr lang="en-US" sz="1600" dirty="0"/>
          </a:p>
        </p:txBody>
      </p:sp>
      <p:sp>
        <p:nvSpPr>
          <p:cNvPr id="24" name="Text 16"/>
          <p:cNvSpPr txBox="1"/>
          <p:nvPr/>
        </p:nvSpPr>
        <p:spPr>
          <a:xfrm>
            <a:off x="9198864" y="4937760"/>
            <a:ext cx="2240280" cy="1143000"/>
          </a:xfrm>
          <a:prstGeom prst="rect">
            <a:avLst/>
          </a:prstGeom>
          <a:noFill/>
          <a:ln/>
        </p:spPr>
        <p:txBody>
          <a:bodyPr wrap="square" lIns="0" tIns="0" rIns="0" bIns="0" rtlCol="0" anchor="t"/>
          <a:lstStyle/>
          <a:p>
            <a:pPr indent="0" marL="0">
              <a:buNone/>
            </a:pPr>
            <a:r>
              <a:rPr lang="en-US" sz="1300" dirty="0">
                <a:solidFill>
                  <a:schemeClr val="accent5"/>
                </a:solidFill>
              </a:rPr>
              <a:t>"Nothing to extend - all org. levels of the row already exist (use Update)"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Functions shared by all operations</a:t>
            </a:r>
            <a:endParaRPr lang="en-US" sz="3200" dirty="0"/>
          </a:p>
        </p:txBody>
      </p:sp>
      <p:sp>
        <p:nvSpPr>
          <p:cNvPr id="4" name="card"/>
          <p:cNvSpPr/>
          <p:nvPr/>
        </p:nvSpPr>
        <p:spPr>
          <a:xfrm>
            <a:off x="548640" y="1417320"/>
            <a:ext cx="3474720" cy="2148840"/>
          </a:xfrm>
          <a:prstGeom prst="roundRect">
            <a:avLst>
              <a:gd name="adj" fmla="val 3404"/>
            </a:avLst>
          </a:prstGeom>
          <a:solidFill>
            <a:schemeClr val="bg2"/>
          </a:solidFill>
          <a:ln/>
        </p:spPr>
      </p:sp>
      <p:sp>
        <p:nvSpPr>
          <p:cNvPr id="5" name="icon bg FaTags"/>
          <p:cNvSpPr/>
          <p:nvPr/>
        </p:nvSpPr>
        <p:spPr>
          <a:xfrm>
            <a:off x="822960" y="1691640"/>
            <a:ext cx="640080" cy="640080"/>
          </a:xfrm>
          <a:prstGeom prst="ellipse">
            <a:avLst/>
          </a:prstGeom>
          <a:solidFill>
            <a:schemeClr val="accent1"/>
          </a:solidFill>
          <a:ln/>
        </p:spPr>
      </p:sp>
      <p:pic>
        <p:nvPicPr>
          <p:cNvPr id="6" name="icon FaTags"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7" name="Text 3"/>
          <p:cNvSpPr txBox="1"/>
          <p:nvPr/>
        </p:nvSpPr>
        <p:spPr>
          <a:xfrm>
            <a:off x="164592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Classification</a:t>
            </a:r>
            <a:endParaRPr lang="en-US" sz="1700" dirty="0"/>
          </a:p>
        </p:txBody>
      </p:sp>
      <p:sp>
        <p:nvSpPr>
          <p:cNvPr id="8" name="Text 4"/>
          <p:cNvSpPr txBox="1"/>
          <p:nvPr/>
        </p:nvSpPr>
        <p:spPr>
          <a:xfrm>
            <a:off x="82296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Class type (default 001), class, up to 5 characteristics. Material is kept if only classification fails.</a:t>
            </a:r>
            <a:endParaRPr lang="en-US" sz="1300" dirty="0"/>
          </a:p>
        </p:txBody>
      </p:sp>
      <p:sp>
        <p:nvSpPr>
          <p:cNvPr id="9" name="card"/>
          <p:cNvSpPr/>
          <p:nvPr/>
        </p:nvSpPr>
        <p:spPr>
          <a:xfrm>
            <a:off x="4297680" y="1417320"/>
            <a:ext cx="3474720" cy="2148840"/>
          </a:xfrm>
          <a:prstGeom prst="roundRect">
            <a:avLst>
              <a:gd name="adj" fmla="val 3404"/>
            </a:avLst>
          </a:prstGeom>
          <a:solidFill>
            <a:schemeClr val="bg2"/>
          </a:solidFill>
          <a:ln/>
        </p:spPr>
      </p:sp>
      <p:sp>
        <p:nvSpPr>
          <p:cNvPr id="10" name="icon bg FaLayerGroup"/>
          <p:cNvSpPr/>
          <p:nvPr/>
        </p:nvSpPr>
        <p:spPr>
          <a:xfrm>
            <a:off x="4572000" y="1691640"/>
            <a:ext cx="640080" cy="640080"/>
          </a:xfrm>
          <a:prstGeom prst="ellipse">
            <a:avLst/>
          </a:prstGeom>
          <a:solidFill>
            <a:schemeClr val="accent1"/>
          </a:solidFill>
          <a:ln/>
        </p:spPr>
      </p:sp>
      <p:pic>
        <p:nvPicPr>
          <p:cNvPr id="11" name="icon FaLayerGroup" descr="preencoded.png">    </p:cNvPr>
          <p:cNvPicPr>
            <a:picLocks noChangeAspect="1"/>
          </p:cNvPicPr>
          <p:nvPr/>
        </p:nvPicPr>
        <p:blipFill>
          <a:blip r:embed="rId2"/>
          <a:stretch>
            <a:fillRect/>
          </a:stretch>
        </p:blipFill>
        <p:spPr>
          <a:xfrm>
            <a:off x="4732020" y="1851660"/>
            <a:ext cx="320040" cy="320040"/>
          </a:xfrm>
          <a:prstGeom prst="rect">
            <a:avLst/>
          </a:prstGeom>
        </p:spPr>
      </p:pic>
      <p:sp>
        <p:nvSpPr>
          <p:cNvPr id="12" name="Text 7"/>
          <p:cNvSpPr txBox="1"/>
          <p:nvPr/>
        </p:nvSpPr>
        <p:spPr>
          <a:xfrm>
            <a:off x="539496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Product hierarchy</a:t>
            </a:r>
            <a:endParaRPr lang="en-US" sz="1700" dirty="0"/>
          </a:p>
        </p:txBody>
      </p:sp>
      <p:sp>
        <p:nvSpPr>
          <p:cNvPr id="13" name="Text 8"/>
          <p:cNvSpPr txBox="1"/>
          <p:nvPr/>
        </p:nvSpPr>
        <p:spPr>
          <a:xfrm>
            <a:off x="457200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PRODH_LVL1..5 combined, or complete PRDHA</a:t>
            </a:r>
            <a:endParaRPr lang="en-US" sz="1300" dirty="0"/>
          </a:p>
        </p:txBody>
      </p:sp>
      <p:sp>
        <p:nvSpPr>
          <p:cNvPr id="14" name="card"/>
          <p:cNvSpPr/>
          <p:nvPr/>
        </p:nvSpPr>
        <p:spPr>
          <a:xfrm>
            <a:off x="8046720" y="1417320"/>
            <a:ext cx="3474720" cy="2148840"/>
          </a:xfrm>
          <a:prstGeom prst="roundRect">
            <a:avLst>
              <a:gd name="adj" fmla="val 3404"/>
            </a:avLst>
          </a:prstGeom>
          <a:solidFill>
            <a:schemeClr val="bg2"/>
          </a:solidFill>
          <a:ln/>
        </p:spPr>
      </p:sp>
      <p:sp>
        <p:nvSpPr>
          <p:cNvPr id="15" name="icon bg FaFileAlt"/>
          <p:cNvSpPr/>
          <p:nvPr/>
        </p:nvSpPr>
        <p:spPr>
          <a:xfrm>
            <a:off x="8321040" y="1691640"/>
            <a:ext cx="640080" cy="640080"/>
          </a:xfrm>
          <a:prstGeom prst="ellipse">
            <a:avLst/>
          </a:prstGeom>
          <a:solidFill>
            <a:schemeClr val="accent1"/>
          </a:solidFill>
          <a:ln/>
        </p:spPr>
      </p:sp>
      <p:pic>
        <p:nvPicPr>
          <p:cNvPr id="16" name="icon FaFileAlt" descr="preencoded.png">    </p:cNvPr>
          <p:cNvPicPr>
            <a:picLocks noChangeAspect="1"/>
          </p:cNvPicPr>
          <p:nvPr/>
        </p:nvPicPr>
        <p:blipFill>
          <a:blip r:embed="rId3"/>
          <a:stretch>
            <a:fillRect/>
          </a:stretch>
        </p:blipFill>
        <p:spPr>
          <a:xfrm>
            <a:off x="8481060" y="1851660"/>
            <a:ext cx="320040" cy="320040"/>
          </a:xfrm>
          <a:prstGeom prst="rect">
            <a:avLst/>
          </a:prstGeom>
        </p:spPr>
      </p:pic>
      <p:sp>
        <p:nvSpPr>
          <p:cNvPr id="17" name="Text 11"/>
          <p:cNvSpPr txBox="1"/>
          <p:nvPr/>
        </p:nvSpPr>
        <p:spPr>
          <a:xfrm>
            <a:off x="9144000" y="169164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Long texts</a:t>
            </a:r>
            <a:endParaRPr lang="en-US" sz="1700" dirty="0"/>
          </a:p>
        </p:txBody>
      </p:sp>
      <p:sp>
        <p:nvSpPr>
          <p:cNvPr id="18" name="Text 12"/>
          <p:cNvSpPr txBox="1"/>
          <p:nvPr/>
        </p:nvSpPr>
        <p:spPr>
          <a:xfrm>
            <a:off x="8321040" y="246888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PO_TEXT (purchasing) and SALES_TEXT (sales), max. 132 characters per line</a:t>
            </a:r>
            <a:endParaRPr lang="en-US" sz="1300" dirty="0"/>
          </a:p>
        </p:txBody>
      </p:sp>
      <p:sp>
        <p:nvSpPr>
          <p:cNvPr id="19" name="card"/>
          <p:cNvSpPr/>
          <p:nvPr/>
        </p:nvSpPr>
        <p:spPr>
          <a:xfrm>
            <a:off x="548640" y="3794760"/>
            <a:ext cx="3474720" cy="2148840"/>
          </a:xfrm>
          <a:prstGeom prst="roundRect">
            <a:avLst>
              <a:gd name="adj" fmla="val 3404"/>
            </a:avLst>
          </a:prstGeom>
          <a:solidFill>
            <a:schemeClr val="bg2"/>
          </a:solidFill>
          <a:ln/>
        </p:spPr>
      </p:sp>
      <p:sp>
        <p:nvSpPr>
          <p:cNvPr id="20" name="icon bg FaCalendarAlt"/>
          <p:cNvSpPr/>
          <p:nvPr/>
        </p:nvSpPr>
        <p:spPr>
          <a:xfrm>
            <a:off x="822960" y="4069080"/>
            <a:ext cx="640080" cy="640080"/>
          </a:xfrm>
          <a:prstGeom prst="ellipse">
            <a:avLst/>
          </a:prstGeom>
          <a:solidFill>
            <a:schemeClr val="accent1"/>
          </a:solidFill>
          <a:ln/>
        </p:spPr>
      </p:sp>
      <p:pic>
        <p:nvPicPr>
          <p:cNvPr id="21" name="icon FaCalendarAlt"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2" name="Text 15"/>
          <p:cNvSpPr txBox="1"/>
          <p:nvPr/>
        </p:nvSpPr>
        <p:spPr>
          <a:xfrm>
            <a:off x="164592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Dates and units</a:t>
            </a:r>
            <a:endParaRPr lang="en-US" sz="1700" dirty="0"/>
          </a:p>
        </p:txBody>
      </p:sp>
      <p:sp>
        <p:nvSpPr>
          <p:cNvPr id="23" name="Text 16"/>
          <p:cNvSpPr txBox="1"/>
          <p:nvPr/>
        </p:nvSpPr>
        <p:spPr>
          <a:xfrm>
            <a:off x="82296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Excel dates or YYYYMMDD / DD.MM.YYYY; units converted to SAP format</a:t>
            </a:r>
            <a:endParaRPr lang="en-US" sz="1300" dirty="0"/>
          </a:p>
        </p:txBody>
      </p:sp>
      <p:sp>
        <p:nvSpPr>
          <p:cNvPr id="24" name="card"/>
          <p:cNvSpPr/>
          <p:nvPr/>
        </p:nvSpPr>
        <p:spPr>
          <a:xfrm>
            <a:off x="4297680" y="3794760"/>
            <a:ext cx="3474720" cy="2148840"/>
          </a:xfrm>
          <a:prstGeom prst="roundRect">
            <a:avLst>
              <a:gd name="adj" fmla="val 3404"/>
            </a:avLst>
          </a:prstGeom>
          <a:solidFill>
            <a:schemeClr val="bg2"/>
          </a:solidFill>
          <a:ln/>
        </p:spPr>
      </p:sp>
      <p:sp>
        <p:nvSpPr>
          <p:cNvPr id="25" name="icon bg FaSpellCheck"/>
          <p:cNvSpPr/>
          <p:nvPr/>
        </p:nvSpPr>
        <p:spPr>
          <a:xfrm>
            <a:off x="4572000" y="4069080"/>
            <a:ext cx="640080" cy="640080"/>
          </a:xfrm>
          <a:prstGeom prst="ellipse">
            <a:avLst/>
          </a:prstGeom>
          <a:solidFill>
            <a:schemeClr val="accent1"/>
          </a:solidFill>
          <a:ln/>
        </p:spPr>
      </p:sp>
      <p:pic>
        <p:nvPicPr>
          <p:cNvPr id="26" name="icon FaSpellCheck" descr="preencoded.png">    </p:cNvPr>
          <p:cNvPicPr>
            <a:picLocks noChangeAspect="1"/>
          </p:cNvPicPr>
          <p:nvPr/>
        </p:nvPicPr>
        <p:blipFill>
          <a:blip r:embed="rId5"/>
          <a:stretch>
            <a:fillRect/>
          </a:stretch>
        </p:blipFill>
        <p:spPr>
          <a:xfrm>
            <a:off x="4732020" y="4229100"/>
            <a:ext cx="320040" cy="320040"/>
          </a:xfrm>
          <a:prstGeom prst="rect">
            <a:avLst/>
          </a:prstGeom>
        </p:spPr>
      </p:pic>
      <p:sp>
        <p:nvSpPr>
          <p:cNvPr id="27" name="Text 19"/>
          <p:cNvSpPr txBox="1"/>
          <p:nvPr/>
        </p:nvSpPr>
        <p:spPr>
          <a:xfrm>
            <a:off x="539496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Format checks</a:t>
            </a:r>
            <a:endParaRPr lang="en-US" sz="1700" dirty="0"/>
          </a:p>
        </p:txBody>
      </p:sp>
      <p:sp>
        <p:nvSpPr>
          <p:cNvPr id="28" name="Text 20"/>
          <p:cNvSpPr txBox="1"/>
          <p:nvPr/>
        </p:nvSpPr>
        <p:spPr>
          <a:xfrm>
            <a:off x="457200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Length, type and value checks before the BAPI is called</a:t>
            </a:r>
            <a:endParaRPr lang="en-US" sz="1300" dirty="0"/>
          </a:p>
        </p:txBody>
      </p:sp>
      <p:sp>
        <p:nvSpPr>
          <p:cNvPr id="29" name="card"/>
          <p:cNvSpPr/>
          <p:nvPr/>
        </p:nvSpPr>
        <p:spPr>
          <a:xfrm>
            <a:off x="8046720" y="3794760"/>
            <a:ext cx="3474720" cy="2148840"/>
          </a:xfrm>
          <a:prstGeom prst="roundRect">
            <a:avLst>
              <a:gd name="adj" fmla="val 3404"/>
            </a:avLst>
          </a:prstGeom>
          <a:solidFill>
            <a:schemeClr val="bg2"/>
          </a:solidFill>
          <a:ln/>
        </p:spPr>
      </p:sp>
      <p:sp>
        <p:nvSpPr>
          <p:cNvPr id="30" name="icon bg FaClipboardList"/>
          <p:cNvSpPr/>
          <p:nvPr/>
        </p:nvSpPr>
        <p:spPr>
          <a:xfrm>
            <a:off x="8321040" y="4069080"/>
            <a:ext cx="640080" cy="640080"/>
          </a:xfrm>
          <a:prstGeom prst="ellipse">
            <a:avLst/>
          </a:prstGeom>
          <a:solidFill>
            <a:schemeClr val="accent1"/>
          </a:solidFill>
          <a:ln/>
        </p:spPr>
      </p:sp>
      <p:pic>
        <p:nvPicPr>
          <p:cNvPr id="31" name="icon FaClipboardList" descr="preencoded.png">    </p:cNvPr>
          <p:cNvPicPr>
            <a:picLocks noChangeAspect="1"/>
          </p:cNvPicPr>
          <p:nvPr/>
        </p:nvPicPr>
        <p:blipFill>
          <a:blip r:embed="rId6"/>
          <a:stretch>
            <a:fillRect/>
          </a:stretch>
        </p:blipFill>
        <p:spPr>
          <a:xfrm>
            <a:off x="8481060" y="4229100"/>
            <a:ext cx="320040" cy="320040"/>
          </a:xfrm>
          <a:prstGeom prst="rect">
            <a:avLst/>
          </a:prstGeom>
        </p:spPr>
      </p:pic>
      <p:sp>
        <p:nvSpPr>
          <p:cNvPr id="32" name="Text 23"/>
          <p:cNvSpPr txBox="1"/>
          <p:nvPr/>
        </p:nvSpPr>
        <p:spPr>
          <a:xfrm>
            <a:off x="9144000" y="4069080"/>
            <a:ext cx="2286000" cy="640080"/>
          </a:xfrm>
          <a:prstGeom prst="rect">
            <a:avLst/>
          </a:prstGeom>
          <a:noFill/>
          <a:ln/>
        </p:spPr>
        <p:txBody>
          <a:bodyPr wrap="square" lIns="0" tIns="0" rIns="0" bIns="0" rtlCol="0" anchor="ctr"/>
          <a:lstStyle/>
          <a:p>
            <a:pPr indent="0" marL="0">
              <a:buNone/>
            </a:pPr>
            <a:r>
              <a:rPr lang="en-US" sz="1700" b="1" dirty="0">
                <a:solidFill>
                  <a:schemeClr val="tx2"/>
                </a:solidFill>
              </a:rPr>
              <a:t>Status dates</a:t>
            </a:r>
            <a:endParaRPr lang="en-US" sz="1700" dirty="0"/>
          </a:p>
        </p:txBody>
      </p:sp>
      <p:sp>
        <p:nvSpPr>
          <p:cNvPr id="33" name="Text 24"/>
          <p:cNvSpPr txBox="1"/>
          <p:nvPr/>
        </p:nvSpPr>
        <p:spPr>
          <a:xfrm>
            <a:off x="8321040" y="4846320"/>
            <a:ext cx="2971800" cy="1005840"/>
          </a:xfrm>
          <a:prstGeom prst="rect">
            <a:avLst/>
          </a:prstGeom>
          <a:noFill/>
          <a:ln/>
        </p:spPr>
        <p:txBody>
          <a:bodyPr wrap="square" lIns="0" tIns="0" rIns="0" bIns="0" rtlCol="0" anchor="t"/>
          <a:lstStyle/>
          <a:p>
            <a:pPr indent="0" marL="0">
              <a:buNone/>
            </a:pPr>
            <a:r>
              <a:rPr lang="en-US" sz="1300" dirty="0">
                <a:solidFill>
                  <a:schemeClr val="accent5"/>
                </a:solidFill>
              </a:rPr>
              <a:t>Valid-from of material status (MSTDV / VMSTD) = today when empty (Create)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03</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Run and results</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Test run, actual run, output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Test run vs actual run</a:t>
            </a:r>
            <a:endParaRPr lang="en-US" sz="3200" dirty="0"/>
          </a:p>
        </p:txBody>
      </p:sp>
      <p:sp>
        <p:nvSpPr>
          <p:cNvPr id="4" name="card"/>
          <p:cNvSpPr/>
          <p:nvPr/>
        </p:nvSpPr>
        <p:spPr>
          <a:xfrm>
            <a:off x="548640" y="1371600"/>
            <a:ext cx="5349240" cy="4709160"/>
          </a:xfrm>
          <a:prstGeom prst="roundRect">
            <a:avLst>
              <a:gd name="adj" fmla="val 1553"/>
            </a:avLst>
          </a:prstGeom>
          <a:solidFill>
            <a:schemeClr val="bg2"/>
          </a:solidFill>
          <a:ln/>
        </p:spPr>
      </p:sp>
      <p:sp>
        <p:nvSpPr>
          <p:cNvPr id="5" name="icon bg FaFlask"/>
          <p:cNvSpPr/>
          <p:nvPr/>
        </p:nvSpPr>
        <p:spPr>
          <a:xfrm>
            <a:off x="822960" y="1600200"/>
            <a:ext cx="731520" cy="731520"/>
          </a:xfrm>
          <a:prstGeom prst="ellipse">
            <a:avLst/>
          </a:prstGeom>
          <a:solidFill>
            <a:schemeClr val="accent1"/>
          </a:solidFill>
          <a:ln/>
        </p:spPr>
      </p:sp>
      <p:pic>
        <p:nvPicPr>
          <p:cNvPr id="6" name="icon FaFlask"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7" name="Text 3"/>
          <p:cNvSpPr txBox="1"/>
          <p:nvPr/>
        </p:nvSpPr>
        <p:spPr>
          <a:xfrm>
            <a:off x="1737360" y="1645920"/>
            <a:ext cx="3931920" cy="640080"/>
          </a:xfrm>
          <a:prstGeom prst="rect">
            <a:avLst/>
          </a:prstGeom>
          <a:noFill/>
          <a:ln/>
        </p:spPr>
        <p:txBody>
          <a:bodyPr wrap="square" lIns="0" tIns="0" rIns="0" bIns="0" rtlCol="0" anchor="ctr"/>
          <a:lstStyle/>
          <a:p>
            <a:pPr indent="0" marL="0">
              <a:buNone/>
            </a:pPr>
            <a:r>
              <a:rPr lang="en-US" sz="2200" b="1" dirty="0">
                <a:solidFill>
                  <a:schemeClr val="tx2"/>
                </a:solidFill>
              </a:rPr>
              <a:t>Test run (default)</a:t>
            </a:r>
            <a:endParaRPr lang="en-US" sz="2200" dirty="0"/>
          </a:p>
        </p:txBody>
      </p:sp>
      <p:sp>
        <p:nvSpPr>
          <p:cNvPr id="8" name="Text 4"/>
          <p:cNvSpPr txBox="1"/>
          <p:nvPr/>
        </p:nvSpPr>
        <p:spPr>
          <a:xfrm>
            <a:off x="914400" y="260604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All checks and BAPI simulation</a:t>
            </a:r>
            <a:endParaRPr lang="en-US" sz="1700" dirty="0"/>
          </a:p>
          <a:p>
            <a:pPr marL="203200" indent="-203200">
              <a:spcAft>
                <a:spcPts val="800"/>
              </a:spcAft>
              <a:buSzPct val="100000"/>
              <a:buChar char="•"/>
            </a:pPr>
            <a:r>
              <a:rPr lang="en-US" sz="1700" dirty="0">
                <a:solidFill>
                  <a:schemeClr val="tx1"/>
                </a:solidFill>
              </a:rPr>
              <a:t>Temporary numbers TEMPMATNR_&lt;row&gt;</a:t>
            </a:r>
            <a:endParaRPr lang="en-US" sz="1700" dirty="0"/>
          </a:p>
          <a:p>
            <a:pPr marL="203200" indent="-203200">
              <a:spcAft>
                <a:spcPts val="800"/>
              </a:spcAft>
              <a:buSzPct val="100000"/>
              <a:buChar char="•"/>
            </a:pPr>
            <a:r>
              <a:rPr lang="en-US" sz="1700" dirty="0">
                <a:solidFill>
                  <a:schemeClr val="tx1"/>
                </a:solidFill>
              </a:rPr>
              <a:t>Nothing saved, no number drawn</a:t>
            </a:r>
            <a:endParaRPr lang="en-US" sz="1700" dirty="0"/>
          </a:p>
          <a:p>
            <a:pPr marL="203200" indent="-203200">
              <a:spcAft>
                <a:spcPts val="800"/>
              </a:spcAft>
              <a:buSzPct val="100000"/>
              <a:buChar char="•"/>
            </a:pPr>
            <a:r>
              <a:rPr lang="en-US" sz="1700" dirty="0">
                <a:solidFill>
                  <a:schemeClr val="tx1"/>
                </a:solidFill>
              </a:rPr>
              <a:t>No file written, no e-mail sent</a:t>
            </a:r>
            <a:endParaRPr lang="en-US" sz="1700" dirty="0"/>
          </a:p>
          <a:p>
            <a:pPr marL="203200" indent="-203200">
              <a:spcAft>
                <a:spcPts val="800"/>
              </a:spcAft>
              <a:buSzPct val="100000"/>
              <a:buChar char="•"/>
            </a:pPr>
            <a:r>
              <a:rPr lang="en-US" sz="1700" dirty="0">
                <a:solidFill>
                  <a:schemeClr val="tx1"/>
                </a:solidFill>
              </a:rPr>
              <a:t>ALV shows what would happen</a:t>
            </a:r>
            <a:endParaRPr lang="en-US" sz="1700" dirty="0"/>
          </a:p>
        </p:txBody>
      </p:sp>
      <p:sp>
        <p:nvSpPr>
          <p:cNvPr id="9" name="card"/>
          <p:cNvSpPr/>
          <p:nvPr/>
        </p:nvSpPr>
        <p:spPr>
          <a:xfrm>
            <a:off x="6263640" y="1371600"/>
            <a:ext cx="5349240" cy="4709160"/>
          </a:xfrm>
          <a:prstGeom prst="roundRect">
            <a:avLst>
              <a:gd name="adj" fmla="val 1553"/>
            </a:avLst>
          </a:prstGeom>
          <a:solidFill>
            <a:schemeClr val="bg2"/>
          </a:solidFill>
          <a:ln/>
        </p:spPr>
      </p:sp>
      <p:sp>
        <p:nvSpPr>
          <p:cNvPr id="10" name="icon bg FaSave"/>
          <p:cNvSpPr/>
          <p:nvPr/>
        </p:nvSpPr>
        <p:spPr>
          <a:xfrm>
            <a:off x="6537960" y="1600200"/>
            <a:ext cx="731520" cy="731520"/>
          </a:xfrm>
          <a:prstGeom prst="ellipse">
            <a:avLst/>
          </a:prstGeom>
          <a:solidFill>
            <a:schemeClr val="accent2"/>
          </a:solidFill>
          <a:ln/>
        </p:spPr>
      </p:sp>
      <p:pic>
        <p:nvPicPr>
          <p:cNvPr id="11" name="icon FaSave" descr="preencoded.png">    </p:cNvPr>
          <p:cNvPicPr>
            <a:picLocks noChangeAspect="1"/>
          </p:cNvPicPr>
          <p:nvPr/>
        </p:nvPicPr>
        <p:blipFill>
          <a:blip r:embed="rId2"/>
          <a:stretch>
            <a:fillRect/>
          </a:stretch>
        </p:blipFill>
        <p:spPr>
          <a:xfrm>
            <a:off x="6720840" y="1783080"/>
            <a:ext cx="365760" cy="365760"/>
          </a:xfrm>
          <a:prstGeom prst="rect">
            <a:avLst/>
          </a:prstGeom>
        </p:spPr>
      </p:pic>
      <p:sp>
        <p:nvSpPr>
          <p:cNvPr id="12" name="Text 7"/>
          <p:cNvSpPr txBox="1"/>
          <p:nvPr/>
        </p:nvSpPr>
        <p:spPr>
          <a:xfrm>
            <a:off x="7452360" y="1645920"/>
            <a:ext cx="3931920" cy="640080"/>
          </a:xfrm>
          <a:prstGeom prst="rect">
            <a:avLst/>
          </a:prstGeom>
          <a:noFill/>
          <a:ln/>
        </p:spPr>
        <p:txBody>
          <a:bodyPr wrap="square" lIns="0" tIns="0" rIns="0" bIns="0" rtlCol="0" anchor="ctr"/>
          <a:lstStyle/>
          <a:p>
            <a:pPr indent="0" marL="0">
              <a:buNone/>
            </a:pPr>
            <a:r>
              <a:rPr lang="en-US" sz="2200" b="1" dirty="0">
                <a:solidFill>
                  <a:schemeClr val="tx2"/>
                </a:solidFill>
              </a:rPr>
              <a:t>Actual run</a:t>
            </a:r>
            <a:endParaRPr lang="en-US" sz="2200" dirty="0"/>
          </a:p>
        </p:txBody>
      </p:sp>
      <p:sp>
        <p:nvSpPr>
          <p:cNvPr id="13" name="Text 8"/>
          <p:cNvSpPr txBox="1"/>
          <p:nvPr/>
        </p:nvSpPr>
        <p:spPr>
          <a:xfrm>
            <a:off x="6629400" y="260604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Same checks and simulation first</a:t>
            </a:r>
            <a:endParaRPr lang="en-US" sz="1700" dirty="0"/>
          </a:p>
          <a:p>
            <a:pPr marL="203200" indent="-203200">
              <a:spcAft>
                <a:spcPts val="800"/>
              </a:spcAft>
              <a:buSzPct val="100000"/>
              <a:buChar char="•"/>
            </a:pPr>
            <a:r>
              <a:rPr lang="en-US" sz="1700" dirty="0">
                <a:solidFill>
                  <a:schemeClr val="tx1"/>
                </a:solidFill>
              </a:rPr>
              <a:t>Real number only for clean rows</a:t>
            </a:r>
            <a:endParaRPr lang="en-US" sz="1700" dirty="0"/>
          </a:p>
          <a:p>
            <a:pPr marL="203200" indent="-203200">
              <a:spcAft>
                <a:spcPts val="800"/>
              </a:spcAft>
              <a:buSzPct val="100000"/>
              <a:buChar char="•"/>
            </a:pPr>
            <a:r>
              <a:rPr lang="en-US" sz="1700" dirty="0">
                <a:solidFill>
                  <a:schemeClr val="tx1"/>
                </a:solidFill>
              </a:rPr>
              <a:t>Commit per material</a:t>
            </a:r>
            <a:endParaRPr lang="en-US" sz="1700" dirty="0"/>
          </a:p>
          <a:p>
            <a:pPr marL="203200" indent="-203200">
              <a:spcAft>
                <a:spcPts val="800"/>
              </a:spcAft>
              <a:buSzPct val="100000"/>
              <a:buChar char="•"/>
            </a:pPr>
            <a:r>
              <a:rPr lang="en-US" sz="1700" dirty="0">
                <a:solidFill>
                  <a:schemeClr val="tx1"/>
                </a:solidFill>
              </a:rPr>
              <a:t>Result file on the server</a:t>
            </a:r>
            <a:endParaRPr lang="en-US" sz="1700" dirty="0"/>
          </a:p>
          <a:p>
            <a:pPr marL="203200" indent="-203200">
              <a:spcAft>
                <a:spcPts val="800"/>
              </a:spcAft>
              <a:buSzPct val="100000"/>
              <a:buChar char="•"/>
            </a:pPr>
            <a:r>
              <a:rPr lang="en-US" sz="1700" dirty="0">
                <a:solidFill>
                  <a:schemeClr val="tx1"/>
                </a:solidFill>
              </a:rPr>
              <a:t>E-mail with the result file</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 list (ALV)</a:t>
            </a:r>
            <a:endParaRPr lang="en-US" sz="3200" dirty="0"/>
          </a:p>
        </p:txBody>
      </p:sp>
      <p:pic>
        <p:nvPicPr>
          <p:cNvPr id="4" name="figure alv_post.png" descr="/tmp/claude-0/-home-user-zmm-material-maintenance/1352b8c0-3fee-5073-834d-e95bee04ea8d/scratchpad/ppt/../doc/img/alv_post.png">    </p:cNvPr>
          <p:cNvPicPr>
            <a:picLocks noChangeAspect="1"/>
          </p:cNvPicPr>
          <p:nvPr/>
        </p:nvPicPr>
        <p:blipFill>
          <a:blip r:embed="rId1"/>
          <a:stretch>
            <a:fillRect/>
          </a:stretch>
        </p:blipFill>
        <p:spPr>
          <a:xfrm>
            <a:off x="548640" y="1415326"/>
            <a:ext cx="7223760" cy="4575989"/>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8092440" y="1280160"/>
            <a:ext cx="3520440" cy="4800600"/>
          </a:xfrm>
          <a:prstGeom prst="roundRect">
            <a:avLst>
              <a:gd name="adj" fmla="val 2078"/>
            </a:avLst>
          </a:prstGeom>
          <a:solidFill>
            <a:schemeClr val="bg2"/>
          </a:solidFill>
          <a:ln/>
        </p:spPr>
      </p:sp>
      <p:sp>
        <p:nvSpPr>
          <p:cNvPr id="6" name="Text 2"/>
          <p:cNvSpPr txBox="1"/>
          <p:nvPr/>
        </p:nvSpPr>
        <p:spPr>
          <a:xfrm>
            <a:off x="8321040" y="1463040"/>
            <a:ext cx="3108960" cy="411480"/>
          </a:xfrm>
          <a:prstGeom prst="rect">
            <a:avLst/>
          </a:prstGeom>
          <a:noFill/>
          <a:ln/>
        </p:spPr>
        <p:txBody>
          <a:bodyPr wrap="square" lIns="0" tIns="0" rIns="0" bIns="0" rtlCol="0" anchor="t"/>
          <a:lstStyle/>
          <a:p>
            <a:pPr indent="0" marL="0">
              <a:buNone/>
            </a:pPr>
            <a:r>
              <a:rPr lang="en-US" sz="1900" b="1" dirty="0">
                <a:solidFill>
                  <a:schemeClr val="tx2"/>
                </a:solidFill>
              </a:rPr>
              <a:t>Reading the list</a:t>
            </a:r>
            <a:endParaRPr lang="en-US" sz="1900" dirty="0"/>
          </a:p>
        </p:txBody>
      </p:sp>
      <p:sp>
        <p:nvSpPr>
          <p:cNvPr id="7" name="legend dot"/>
          <p:cNvSpPr/>
          <p:nvPr/>
        </p:nvSpPr>
        <p:spPr>
          <a:xfrm>
            <a:off x="8321040" y="2103120"/>
            <a:ext cx="365760" cy="365760"/>
          </a:xfrm>
          <a:prstGeom prst="ellipse">
            <a:avLst/>
          </a:prstGeom>
          <a:solidFill>
            <a:schemeClr val="accent4"/>
          </a:solidFill>
          <a:ln/>
        </p:spPr>
      </p:sp>
      <p:sp>
        <p:nvSpPr>
          <p:cNvPr id="8" name="Text 4"/>
          <p:cNvSpPr txBox="1"/>
          <p:nvPr/>
        </p:nvSpPr>
        <p:spPr>
          <a:xfrm>
            <a:off x="8823960" y="20574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S  </a:t>
            </a:r>
            <a:pPr indent="0" marL="0">
              <a:buNone/>
            </a:pPr>
            <a:r>
              <a:rPr lang="en-US" sz="1400" dirty="0">
                <a:solidFill>
                  <a:schemeClr val="tx1"/>
                </a:solidFill>
              </a:rPr>
              <a:t>Success - posted or simulated OK</a:t>
            </a:r>
            <a:endParaRPr lang="en-US" sz="1400" dirty="0"/>
          </a:p>
        </p:txBody>
      </p:sp>
      <p:sp>
        <p:nvSpPr>
          <p:cNvPr id="9" name="legend dot"/>
          <p:cNvSpPr/>
          <p:nvPr/>
        </p:nvSpPr>
        <p:spPr>
          <a:xfrm>
            <a:off x="8321040" y="2788920"/>
            <a:ext cx="365760" cy="365760"/>
          </a:xfrm>
          <a:prstGeom prst="ellipse">
            <a:avLst/>
          </a:prstGeom>
          <a:solidFill>
            <a:schemeClr val="accent2"/>
          </a:solidFill>
          <a:ln/>
        </p:spPr>
      </p:sp>
      <p:sp>
        <p:nvSpPr>
          <p:cNvPr id="10" name="Text 6"/>
          <p:cNvSpPr txBox="1"/>
          <p:nvPr/>
        </p:nvSpPr>
        <p:spPr>
          <a:xfrm>
            <a:off x="8823960" y="27432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W  </a:t>
            </a:r>
            <a:pPr indent="0" marL="0">
              <a:buNone/>
            </a:pPr>
            <a:r>
              <a:rPr lang="en-US" sz="1400" dirty="0">
                <a:solidFill>
                  <a:schemeClr val="tx1"/>
                </a:solidFill>
              </a:rPr>
              <a:t>Warning - check, not blocking</a:t>
            </a:r>
            <a:endParaRPr lang="en-US" sz="1400" dirty="0"/>
          </a:p>
        </p:txBody>
      </p:sp>
      <p:sp>
        <p:nvSpPr>
          <p:cNvPr id="11" name="legend dot"/>
          <p:cNvSpPr/>
          <p:nvPr/>
        </p:nvSpPr>
        <p:spPr>
          <a:xfrm>
            <a:off x="8321040" y="3474720"/>
            <a:ext cx="365760" cy="365760"/>
          </a:xfrm>
          <a:prstGeom prst="ellipse">
            <a:avLst/>
          </a:prstGeom>
          <a:solidFill>
            <a:schemeClr val="accent3"/>
          </a:solidFill>
          <a:ln/>
        </p:spPr>
      </p:sp>
      <p:sp>
        <p:nvSpPr>
          <p:cNvPr id="12" name="Text 8"/>
          <p:cNvSpPr txBox="1"/>
          <p:nvPr/>
        </p:nvSpPr>
        <p:spPr>
          <a:xfrm>
            <a:off x="8823960" y="3429000"/>
            <a:ext cx="2651760" cy="457200"/>
          </a:xfrm>
          <a:prstGeom prst="rect">
            <a:avLst/>
          </a:prstGeom>
          <a:noFill/>
          <a:ln/>
        </p:spPr>
        <p:txBody>
          <a:bodyPr wrap="square" lIns="0" tIns="0" rIns="0" bIns="0" rtlCol="0" anchor="ctr"/>
          <a:lstStyle/>
          <a:p>
            <a:pPr indent="0" marL="0">
              <a:buNone/>
            </a:pPr>
            <a:r>
              <a:rPr lang="en-US" sz="1400" b="1" dirty="0">
                <a:solidFill>
                  <a:schemeClr val="tx1"/>
                </a:solidFill>
              </a:rPr>
              <a:t>E  </a:t>
            </a:r>
            <a:pPr indent="0" marL="0">
              <a:buNone/>
            </a:pPr>
            <a:r>
              <a:rPr lang="en-US" sz="1400" dirty="0">
                <a:solidFill>
                  <a:schemeClr val="tx1"/>
                </a:solidFill>
              </a:rPr>
              <a:t>Error - row not posted</a:t>
            </a:r>
            <a:endParaRPr lang="en-US" sz="1400" dirty="0"/>
          </a:p>
        </p:txBody>
      </p:sp>
      <p:sp>
        <p:nvSpPr>
          <p:cNvPr id="13" name="Text 9"/>
          <p:cNvSpPr txBox="1"/>
          <p:nvPr/>
        </p:nvSpPr>
        <p:spPr>
          <a:xfrm>
            <a:off x="8321040" y="4251960"/>
            <a:ext cx="3108960"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Row number points back to the Excel row</a:t>
            </a:r>
            <a:endParaRPr lang="en-US" sz="1400" dirty="0"/>
          </a:p>
          <a:p>
            <a:pPr marL="203200" indent="-203200">
              <a:spcAft>
                <a:spcPts val="800"/>
              </a:spcAft>
              <a:buSzPct val="100000"/>
              <a:buChar char="•"/>
            </a:pPr>
            <a:r>
              <a:rPr lang="en-US" sz="1400" dirty="0">
                <a:solidFill>
                  <a:schemeClr val="tx1"/>
                </a:solidFill>
              </a:rPr>
              <a:t>Summary line: successful / failed / skipped</a:t>
            </a:r>
            <a:endParaRPr lang="en-US" sz="1400" dirty="0"/>
          </a:p>
          <a:p>
            <a:pPr marL="203200" indent="-203200">
              <a:spcAft>
                <a:spcPts val="800"/>
              </a:spcAft>
              <a:buSzPct val="100000"/>
              <a:buChar char="•"/>
            </a:pPr>
            <a:r>
              <a:rPr lang="en-US" sz="1400" dirty="0">
                <a:solidFill>
                  <a:schemeClr val="tx1"/>
                </a:solidFill>
              </a:rPr>
              <a:t>Download the list with the ALV toolbar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Error handling</a:t>
            </a:r>
            <a:endParaRPr lang="en-US" sz="3200" dirty="0"/>
          </a:p>
        </p:txBody>
      </p:sp>
      <p:pic>
        <p:nvPicPr>
          <p:cNvPr id="4" name="figure alv_errors.png" descr="/tmp/claude-0/-home-user-zmm-material-maintenance/1352b8c0-3fee-5073-834d-e95bee04ea8d/scratchpad/ppt/../doc/img/alv_errors.png">    </p:cNvPr>
          <p:cNvPicPr>
            <a:picLocks noChangeAspect="1"/>
          </p:cNvPicPr>
          <p:nvPr/>
        </p:nvPicPr>
        <p:blipFill>
          <a:blip r:embed="rId1"/>
          <a:stretch>
            <a:fillRect/>
          </a:stretch>
        </p:blipFill>
        <p:spPr>
          <a:xfrm>
            <a:off x="548640" y="1280160"/>
            <a:ext cx="6949440" cy="3289221"/>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7818120" y="1280160"/>
            <a:ext cx="3794760" cy="4800600"/>
          </a:xfrm>
          <a:prstGeom prst="roundRect">
            <a:avLst>
              <a:gd name="adj" fmla="val 1928"/>
            </a:avLst>
          </a:prstGeom>
          <a:solidFill>
            <a:schemeClr val="bg2"/>
          </a:solidFill>
          <a:ln/>
        </p:spPr>
      </p:sp>
      <p:sp>
        <p:nvSpPr>
          <p:cNvPr id="6" name="Text 2"/>
          <p:cNvSpPr txBox="1"/>
          <p:nvPr/>
        </p:nvSpPr>
        <p:spPr>
          <a:xfrm>
            <a:off x="8092440" y="1508760"/>
            <a:ext cx="3291840" cy="4480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Errors are collected for each row - one run shows all problems</a:t>
            </a:r>
            <a:endParaRPr lang="en-US" sz="1500" dirty="0"/>
          </a:p>
          <a:p>
            <a:pPr marL="203200" indent="-203200">
              <a:spcAft>
                <a:spcPts val="800"/>
              </a:spcAft>
              <a:buSzPct val="100000"/>
              <a:buChar char="•"/>
            </a:pPr>
            <a:r>
              <a:rPr lang="en-US" sz="1500" dirty="0">
                <a:solidFill>
                  <a:schemeClr val="tx1"/>
                </a:solidFill>
              </a:rPr>
              <a:t>A row with errors is skipped, the other rows continue</a:t>
            </a:r>
            <a:endParaRPr lang="en-US" sz="1500" dirty="0"/>
          </a:p>
          <a:p>
            <a:pPr marL="203200" indent="-203200">
              <a:spcAft>
                <a:spcPts val="800"/>
              </a:spcAft>
              <a:buSzPct val="100000"/>
              <a:buChar char="•"/>
            </a:pPr>
            <a:r>
              <a:rPr lang="en-US" sz="1500" dirty="0">
                <a:solidFill>
                  <a:schemeClr val="tx1"/>
                </a:solidFill>
              </a:rPr>
              <a:t>Messages name row, field and description</a:t>
            </a:r>
            <a:endParaRPr lang="en-US" sz="1500" dirty="0"/>
          </a:p>
          <a:p>
            <a:pPr marL="203200" indent="-203200">
              <a:spcAft>
                <a:spcPts val="800"/>
              </a:spcAft>
              <a:buSzPct val="100000"/>
              <a:buChar char="•"/>
            </a:pPr>
            <a:r>
              <a:rPr lang="en-US" sz="1500" dirty="0">
                <a:solidFill>
                  <a:schemeClr val="tx1"/>
                </a:solidFill>
              </a:rPr>
              <a:t>Fix the Excel, run the test again</a:t>
            </a:r>
            <a:endParaRPr lang="en-US" sz="1500" dirty="0"/>
          </a:p>
          <a:p>
            <a:pPr marL="203200" indent="-203200">
              <a:spcAft>
                <a:spcPts val="800"/>
              </a:spcAft>
              <a:buSzPct val="100000"/>
              <a:buChar char="•"/>
            </a:pPr>
            <a:r>
              <a:rPr lang="en-US" sz="1500" dirty="0">
                <a:solidFill>
                  <a:schemeClr val="tx1"/>
                </a:solidFill>
              </a:rPr>
              <a:t>Training guide has a full message catalogue</a:t>
            </a:r>
            <a:endParaRPr lang="en-US" sz="1500" dirty="0"/>
          </a:p>
        </p:txBody>
      </p:sp>
      <p:sp>
        <p:nvSpPr>
          <p:cNvPr id="7" name="card"/>
          <p:cNvSpPr/>
          <p:nvPr/>
        </p:nvSpPr>
        <p:spPr>
          <a:xfrm>
            <a:off x="548640" y="4892040"/>
            <a:ext cx="6949440" cy="1188720"/>
          </a:xfrm>
          <a:prstGeom prst="roundRect">
            <a:avLst>
              <a:gd name="adj" fmla="val 6154"/>
            </a:avLst>
          </a:prstGeom>
          <a:solidFill>
            <a:srgbClr val="FBEAEA"/>
          </a:solidFill>
          <a:ln/>
        </p:spPr>
      </p:sp>
      <p:sp>
        <p:nvSpPr>
          <p:cNvPr id="8" name="Text 4"/>
          <p:cNvSpPr txBox="1"/>
          <p:nvPr/>
        </p:nvSpPr>
        <p:spPr>
          <a:xfrm>
            <a:off x="822960" y="4983480"/>
            <a:ext cx="6492240" cy="1005840"/>
          </a:xfrm>
          <a:prstGeom prst="rect">
            <a:avLst/>
          </a:prstGeom>
          <a:noFill/>
          <a:ln/>
        </p:spPr>
        <p:txBody>
          <a:bodyPr wrap="square" lIns="0" tIns="0" rIns="0" bIns="0" rtlCol="0" anchor="ctr"/>
          <a:lstStyle/>
          <a:p>
            <a:pPr indent="0" marL="0">
              <a:buNone/>
            </a:pPr>
            <a:r>
              <a:rPr lang="en-US" sz="1500" b="1" dirty="0">
                <a:solidFill>
                  <a:schemeClr val="tx1"/>
                </a:solidFill>
              </a:rPr>
              <a:t>Classification only failed? </a:t>
            </a:r>
            <a:pPr indent="0" marL="0">
              <a:buNone/>
            </a:pPr>
            <a:r>
              <a:rPr lang="en-US" sz="1500" dirty="0">
                <a:solidFill>
                  <a:schemeClr val="tx1"/>
                </a:solidFill>
              </a:rPr>
              <a:t>The material is saved; the log says so - classify it later with Update.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 file and e-mail</a:t>
            </a:r>
            <a:endParaRPr lang="en-US" sz="3200" dirty="0"/>
          </a:p>
        </p:txBody>
      </p:sp>
      <p:pic>
        <p:nvPicPr>
          <p:cNvPr id="4" name="figure out_xlsx.png" descr="/tmp/claude-0/-home-user-zmm-material-maintenance/1352b8c0-3fee-5073-834d-e95bee04ea8d/scratchpad/ppt/../doc/img/out_xlsx.png">    </p:cNvPr>
          <p:cNvPicPr>
            <a:picLocks noChangeAspect="1"/>
          </p:cNvPicPr>
          <p:nvPr/>
        </p:nvPicPr>
        <p:blipFill>
          <a:blip r:embed="rId1"/>
          <a:stretch>
            <a:fillRect/>
          </a:stretch>
        </p:blipFill>
        <p:spPr>
          <a:xfrm>
            <a:off x="548640" y="1280160"/>
            <a:ext cx="11064240" cy="2400501"/>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4023360"/>
            <a:ext cx="3474720" cy="2057400"/>
          </a:xfrm>
          <a:prstGeom prst="roundRect">
            <a:avLst>
              <a:gd name="adj" fmla="val 3556"/>
            </a:avLst>
          </a:prstGeom>
          <a:solidFill>
            <a:schemeClr val="bg2"/>
          </a:solidFill>
          <a:ln/>
        </p:spPr>
      </p:sp>
      <p:sp>
        <p:nvSpPr>
          <p:cNvPr id="6" name="icon bg FaListAlt"/>
          <p:cNvSpPr/>
          <p:nvPr/>
        </p:nvSpPr>
        <p:spPr>
          <a:xfrm>
            <a:off x="822960" y="4206240"/>
            <a:ext cx="594360" cy="594360"/>
          </a:xfrm>
          <a:prstGeom prst="ellipse">
            <a:avLst/>
          </a:prstGeom>
          <a:solidFill>
            <a:schemeClr val="accent1"/>
          </a:solidFill>
          <a:ln/>
        </p:spPr>
      </p:sp>
      <p:pic>
        <p:nvPicPr>
          <p:cNvPr id="7" name="icon FaListAlt" descr="preencoded.png">    </p:cNvPr>
          <p:cNvPicPr>
            <a:picLocks noChangeAspect="1"/>
          </p:cNvPicPr>
          <p:nvPr/>
        </p:nvPicPr>
        <p:blipFill>
          <a:blip r:embed="rId2"/>
          <a:stretch>
            <a:fillRect/>
          </a:stretch>
        </p:blipFill>
        <p:spPr>
          <a:xfrm>
            <a:off x="971550" y="4354830"/>
            <a:ext cx="297180" cy="297180"/>
          </a:xfrm>
          <a:prstGeom prst="rect">
            <a:avLst/>
          </a:prstGeom>
        </p:spPr>
      </p:pic>
      <p:sp>
        <p:nvSpPr>
          <p:cNvPr id="8" name="Text 3"/>
          <p:cNvSpPr txBox="1"/>
          <p:nvPr/>
        </p:nvSpPr>
        <p:spPr>
          <a:xfrm>
            <a:off x="155448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Sheet ALV_OUTPUT</a:t>
            </a:r>
            <a:endParaRPr lang="en-US" sz="1600" dirty="0"/>
          </a:p>
        </p:txBody>
      </p:sp>
      <p:sp>
        <p:nvSpPr>
          <p:cNvPr id="9" name="Text 4"/>
          <p:cNvSpPr txBox="1"/>
          <p:nvPr/>
        </p:nvSpPr>
        <p:spPr>
          <a:xfrm>
            <a:off x="82296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The same messages as the ALV list</a:t>
            </a:r>
            <a:endParaRPr lang="en-US" sz="1300" dirty="0"/>
          </a:p>
        </p:txBody>
      </p:sp>
      <p:sp>
        <p:nvSpPr>
          <p:cNvPr id="10" name="card"/>
          <p:cNvSpPr/>
          <p:nvPr/>
        </p:nvSpPr>
        <p:spPr>
          <a:xfrm>
            <a:off x="4297680" y="4023360"/>
            <a:ext cx="3474720" cy="2057400"/>
          </a:xfrm>
          <a:prstGeom prst="roundRect">
            <a:avLst>
              <a:gd name="adj" fmla="val 3556"/>
            </a:avLst>
          </a:prstGeom>
          <a:solidFill>
            <a:schemeClr val="bg2"/>
          </a:solidFill>
          <a:ln/>
        </p:spPr>
      </p:sp>
      <p:sp>
        <p:nvSpPr>
          <p:cNvPr id="11" name="icon bg FaTable"/>
          <p:cNvSpPr/>
          <p:nvPr/>
        </p:nvSpPr>
        <p:spPr>
          <a:xfrm>
            <a:off x="4572000" y="4206240"/>
            <a:ext cx="594360" cy="594360"/>
          </a:xfrm>
          <a:prstGeom prst="ellipse">
            <a:avLst/>
          </a:prstGeom>
          <a:solidFill>
            <a:schemeClr val="accent1"/>
          </a:solidFill>
          <a:ln/>
        </p:spPr>
      </p:sp>
      <p:pic>
        <p:nvPicPr>
          <p:cNvPr id="12" name="icon FaTable" descr="preencoded.png">    </p:cNvPr>
          <p:cNvPicPr>
            <a:picLocks noChangeAspect="1"/>
          </p:cNvPicPr>
          <p:nvPr/>
        </p:nvPicPr>
        <p:blipFill>
          <a:blip r:embed="rId3"/>
          <a:stretch>
            <a:fillRect/>
          </a:stretch>
        </p:blipFill>
        <p:spPr>
          <a:xfrm>
            <a:off x="4720590" y="4354830"/>
            <a:ext cx="297180" cy="297180"/>
          </a:xfrm>
          <a:prstGeom prst="rect">
            <a:avLst/>
          </a:prstGeom>
        </p:spPr>
      </p:pic>
      <p:sp>
        <p:nvSpPr>
          <p:cNvPr id="13" name="Text 7"/>
          <p:cNvSpPr txBox="1"/>
          <p:nvPr/>
        </p:nvSpPr>
        <p:spPr>
          <a:xfrm>
            <a:off x="530352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Sheet MATERIAL_DATA</a:t>
            </a:r>
            <a:endParaRPr lang="en-US" sz="1600" dirty="0"/>
          </a:p>
        </p:txBody>
      </p:sp>
      <p:sp>
        <p:nvSpPr>
          <p:cNvPr id="14" name="Text 8"/>
          <p:cNvSpPr txBox="1"/>
          <p:nvPr/>
        </p:nvSpPr>
        <p:spPr>
          <a:xfrm>
            <a:off x="457200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Successful materials read back from SAP (BAPI_MATERIAL_GET_ALL), incl. classification, headers with field descriptions</a:t>
            </a:r>
            <a:endParaRPr lang="en-US" sz="1300" dirty="0"/>
          </a:p>
        </p:txBody>
      </p:sp>
      <p:sp>
        <p:nvSpPr>
          <p:cNvPr id="15" name="card"/>
          <p:cNvSpPr/>
          <p:nvPr/>
        </p:nvSpPr>
        <p:spPr>
          <a:xfrm>
            <a:off x="8046720" y="4023360"/>
            <a:ext cx="3474720" cy="2057400"/>
          </a:xfrm>
          <a:prstGeom prst="roundRect">
            <a:avLst>
              <a:gd name="adj" fmla="val 3556"/>
            </a:avLst>
          </a:prstGeom>
          <a:solidFill>
            <a:schemeClr val="bg2"/>
          </a:solidFill>
          <a:ln/>
        </p:spPr>
      </p:sp>
      <p:sp>
        <p:nvSpPr>
          <p:cNvPr id="16" name="icon bg FaEnvelope"/>
          <p:cNvSpPr/>
          <p:nvPr/>
        </p:nvSpPr>
        <p:spPr>
          <a:xfrm>
            <a:off x="8321040" y="4206240"/>
            <a:ext cx="594360" cy="594360"/>
          </a:xfrm>
          <a:prstGeom prst="ellipse">
            <a:avLst/>
          </a:prstGeom>
          <a:solidFill>
            <a:schemeClr val="accent1"/>
          </a:solidFill>
          <a:ln/>
        </p:spPr>
      </p:sp>
      <p:pic>
        <p:nvPicPr>
          <p:cNvPr id="17" name="icon FaEnvelope" descr="preencoded.png">    </p:cNvPr>
          <p:cNvPicPr>
            <a:picLocks noChangeAspect="1"/>
          </p:cNvPicPr>
          <p:nvPr/>
        </p:nvPicPr>
        <p:blipFill>
          <a:blip r:embed="rId4"/>
          <a:stretch>
            <a:fillRect/>
          </a:stretch>
        </p:blipFill>
        <p:spPr>
          <a:xfrm>
            <a:off x="8469630" y="4354830"/>
            <a:ext cx="297180" cy="297180"/>
          </a:xfrm>
          <a:prstGeom prst="rect">
            <a:avLst/>
          </a:prstGeom>
        </p:spPr>
      </p:pic>
      <p:sp>
        <p:nvSpPr>
          <p:cNvPr id="18" name="Text 11"/>
          <p:cNvSpPr txBox="1"/>
          <p:nvPr/>
        </p:nvSpPr>
        <p:spPr>
          <a:xfrm>
            <a:off x="9052560" y="4206240"/>
            <a:ext cx="2377440" cy="594360"/>
          </a:xfrm>
          <a:prstGeom prst="rect">
            <a:avLst/>
          </a:prstGeom>
          <a:noFill/>
          <a:ln/>
        </p:spPr>
        <p:txBody>
          <a:bodyPr wrap="square" lIns="0" tIns="0" rIns="0" bIns="0" rtlCol="0" anchor="ctr"/>
          <a:lstStyle/>
          <a:p>
            <a:pPr indent="0" marL="0">
              <a:buNone/>
            </a:pPr>
            <a:r>
              <a:rPr lang="en-US" sz="1600" b="1" dirty="0">
                <a:solidFill>
                  <a:schemeClr val="tx2"/>
                </a:solidFill>
              </a:rPr>
              <a:t>Server + e-mail</a:t>
            </a:r>
            <a:endParaRPr lang="en-US" sz="1600" dirty="0"/>
          </a:p>
        </p:txBody>
      </p:sp>
      <p:sp>
        <p:nvSpPr>
          <p:cNvPr id="19" name="Text 12"/>
          <p:cNvSpPr txBox="1"/>
          <p:nvPr/>
        </p:nvSpPr>
        <p:spPr>
          <a:xfrm>
            <a:off x="8321040" y="4892040"/>
            <a:ext cx="3017520" cy="1143000"/>
          </a:xfrm>
          <a:prstGeom prst="rect">
            <a:avLst/>
          </a:prstGeom>
          <a:noFill/>
          <a:ln/>
        </p:spPr>
        <p:txBody>
          <a:bodyPr wrap="square" lIns="0" tIns="0" rIns="0" bIns="0" rtlCol="0" anchor="t"/>
          <a:lstStyle/>
          <a:p>
            <a:pPr indent="0" marL="0">
              <a:buNone/>
            </a:pPr>
            <a:r>
              <a:rPr lang="en-US" sz="1300" dirty="0">
                <a:solidFill>
                  <a:schemeClr val="accent5"/>
                </a:solidFill>
              </a:rPr>
              <a:t>MATMAINT_&lt;C|U|E&gt;_&lt;date&gt;_&lt;time&gt;.xlsx to the output path and to all recipients - actual run only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1097280"/>
          </a:xfrm>
          <a:prstGeom prst="rect">
            <a:avLst/>
          </a:prstGeom>
          <a:noFill/>
          <a:ln/>
        </p:spPr>
        <p:txBody>
          <a:bodyPr wrap="square" lIns="0" tIns="0" rIns="0" bIns="0" rtlCol="0" anchor="b"/>
          <a:lstStyle/>
          <a:p>
            <a:pPr indent="0" marL="0">
              <a:buNone/>
            </a:pPr>
            <a:r>
              <a:rPr lang="en-US" sz="7200" b="1" dirty="0">
                <a:solidFill>
                  <a:schemeClr val="accent2"/>
                </a:solidFill>
                <a:latin typeface="Cambria" pitchFamily="34" charset="0"/>
                <a:ea typeface="Cambria" pitchFamily="34" charset="-122"/>
                <a:cs typeface="Cambria" pitchFamily="34" charset="-120"/>
              </a:rPr>
              <a:t>04</a:t>
            </a:r>
            <a:endParaRPr lang="en-US" sz="72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Safeguards and deliverables</a:t>
            </a:r>
            <a:endParaRPr lang="en-US" sz="4000" dirty="0"/>
          </a:p>
        </p:txBody>
      </p:sp>
      <p:sp>
        <p:nvSpPr>
          <p:cNvPr id="4" name="Text 0"/>
          <p:cNvSpPr/>
          <p:nvPr>
            <p:ph idx="102" type="body" hasCustomPrompt="1"/>
          </p:nvPr>
        </p:nvSpPr>
        <p:spPr>
          <a:xfrm>
            <a:off x="731520" y="402336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Limits, performance and documentation</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Volume limits and performance</a:t>
            </a:r>
            <a:endParaRPr lang="en-US" sz="3200" dirty="0"/>
          </a:p>
        </p:txBody>
      </p:sp>
      <p:sp>
        <p:nvSpPr>
          <p:cNvPr id="4" name="card"/>
          <p:cNvSpPr/>
          <p:nvPr/>
        </p:nvSpPr>
        <p:spPr>
          <a:xfrm>
            <a:off x="548640" y="1417320"/>
            <a:ext cx="3474720" cy="2743200"/>
          </a:xfrm>
          <a:prstGeom prst="roundRect">
            <a:avLst>
              <a:gd name="adj" fmla="val 2667"/>
            </a:avLst>
          </a:prstGeom>
          <a:solidFill>
            <a:schemeClr val="bg2"/>
          </a:solidFill>
          <a:ln/>
        </p:spPr>
      </p:sp>
      <p:sp>
        <p:nvSpPr>
          <p:cNvPr id="5" name="Text 2"/>
          <p:cNvSpPr txBox="1"/>
          <p:nvPr/>
        </p:nvSpPr>
        <p:spPr>
          <a:xfrm>
            <a:off x="54864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1"/>
                </a:solidFill>
                <a:latin typeface="Cambria" pitchFamily="34" charset="0"/>
                <a:ea typeface="Cambria" pitchFamily="34" charset="-122"/>
                <a:cs typeface="Cambria" pitchFamily="34" charset="-120"/>
              </a:rPr>
              <a:t>1000</a:t>
            </a:r>
            <a:endParaRPr lang="en-US" sz="6400" dirty="0"/>
          </a:p>
        </p:txBody>
      </p:sp>
      <p:sp>
        <p:nvSpPr>
          <p:cNvPr id="6" name="Text 3"/>
          <p:cNvSpPr txBox="1"/>
          <p:nvPr/>
        </p:nvSpPr>
        <p:spPr>
          <a:xfrm>
            <a:off x="54864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rows in foreground</a:t>
            </a:r>
            <a:endParaRPr lang="en-US" sz="1800" dirty="0"/>
          </a:p>
        </p:txBody>
      </p:sp>
      <p:sp>
        <p:nvSpPr>
          <p:cNvPr id="7" name="Text 4"/>
          <p:cNvSpPr txBox="1"/>
          <p:nvPr/>
        </p:nvSpPr>
        <p:spPr>
          <a:xfrm>
            <a:off x="82296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More rows: error "run in background"</a:t>
            </a:r>
            <a:endParaRPr lang="en-US" sz="1400" dirty="0"/>
          </a:p>
        </p:txBody>
      </p:sp>
      <p:sp>
        <p:nvSpPr>
          <p:cNvPr id="8" name="card"/>
          <p:cNvSpPr/>
          <p:nvPr/>
        </p:nvSpPr>
        <p:spPr>
          <a:xfrm>
            <a:off x="4297680" y="1417320"/>
            <a:ext cx="3474720" cy="2743200"/>
          </a:xfrm>
          <a:prstGeom prst="roundRect">
            <a:avLst>
              <a:gd name="adj" fmla="val 2667"/>
            </a:avLst>
          </a:prstGeom>
          <a:solidFill>
            <a:schemeClr val="bg2"/>
          </a:solidFill>
          <a:ln/>
        </p:spPr>
      </p:sp>
      <p:sp>
        <p:nvSpPr>
          <p:cNvPr id="9" name="Text 6"/>
          <p:cNvSpPr txBox="1"/>
          <p:nvPr/>
        </p:nvSpPr>
        <p:spPr>
          <a:xfrm>
            <a:off x="429768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3"/>
                </a:solidFill>
                <a:latin typeface="Cambria" pitchFamily="34" charset="0"/>
                <a:ea typeface="Cambria" pitchFamily="34" charset="-122"/>
                <a:cs typeface="Cambria" pitchFamily="34" charset="-120"/>
              </a:rPr>
              <a:t>2000</a:t>
            </a:r>
            <a:endParaRPr lang="en-US" sz="6400" dirty="0"/>
          </a:p>
        </p:txBody>
      </p:sp>
      <p:sp>
        <p:nvSpPr>
          <p:cNvPr id="10" name="Text 7"/>
          <p:cNvSpPr txBox="1"/>
          <p:nvPr/>
        </p:nvSpPr>
        <p:spPr>
          <a:xfrm>
            <a:off x="429768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rows maximum</a:t>
            </a:r>
            <a:endParaRPr lang="en-US" sz="1800" dirty="0"/>
          </a:p>
        </p:txBody>
      </p:sp>
      <p:sp>
        <p:nvSpPr>
          <p:cNvPr id="11" name="Text 8"/>
          <p:cNvSpPr txBox="1"/>
          <p:nvPr/>
        </p:nvSpPr>
        <p:spPr>
          <a:xfrm>
            <a:off x="457200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Hard error in foreground and background</a:t>
            </a:r>
            <a:endParaRPr lang="en-US" sz="1400" dirty="0"/>
          </a:p>
        </p:txBody>
      </p:sp>
      <p:sp>
        <p:nvSpPr>
          <p:cNvPr id="12" name="card"/>
          <p:cNvSpPr/>
          <p:nvPr/>
        </p:nvSpPr>
        <p:spPr>
          <a:xfrm>
            <a:off x="8046720" y="1417320"/>
            <a:ext cx="3474720" cy="2743200"/>
          </a:xfrm>
          <a:prstGeom prst="roundRect">
            <a:avLst>
              <a:gd name="adj" fmla="val 2667"/>
            </a:avLst>
          </a:prstGeom>
          <a:solidFill>
            <a:schemeClr val="bg2"/>
          </a:solidFill>
          <a:ln/>
        </p:spPr>
      </p:sp>
      <p:sp>
        <p:nvSpPr>
          <p:cNvPr id="13" name="Text 10"/>
          <p:cNvSpPr txBox="1"/>
          <p:nvPr/>
        </p:nvSpPr>
        <p:spPr>
          <a:xfrm>
            <a:off x="8046720" y="1554480"/>
            <a:ext cx="3474720" cy="1097280"/>
          </a:xfrm>
          <a:prstGeom prst="rect">
            <a:avLst/>
          </a:prstGeom>
          <a:noFill/>
          <a:ln/>
        </p:spPr>
        <p:txBody>
          <a:bodyPr wrap="square" lIns="0" tIns="0" rIns="0" bIns="0" rtlCol="0" anchor="ctr"/>
          <a:lstStyle/>
          <a:p>
            <a:pPr algn="ctr" indent="0" marL="0">
              <a:buNone/>
            </a:pPr>
            <a:r>
              <a:rPr lang="en-US" sz="6400" b="1" dirty="0">
                <a:solidFill>
                  <a:schemeClr val="accent2"/>
                </a:solidFill>
                <a:latin typeface="Cambria" pitchFamily="34" charset="0"/>
                <a:ea typeface="Cambria" pitchFamily="34" charset="-122"/>
                <a:cs typeface="Cambria" pitchFamily="34" charset="-120"/>
              </a:rPr>
              <a:t>1</a:t>
            </a:r>
            <a:endParaRPr lang="en-US" sz="6400" dirty="0"/>
          </a:p>
        </p:txBody>
      </p:sp>
      <p:sp>
        <p:nvSpPr>
          <p:cNvPr id="14" name="Text 11"/>
          <p:cNvSpPr txBox="1"/>
          <p:nvPr/>
        </p:nvSpPr>
        <p:spPr>
          <a:xfrm>
            <a:off x="8046720" y="269748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file = 1 operation</a:t>
            </a:r>
            <a:endParaRPr lang="en-US" sz="1800" dirty="0"/>
          </a:p>
        </p:txBody>
      </p:sp>
      <p:sp>
        <p:nvSpPr>
          <p:cNvPr id="15" name="Text 12"/>
          <p:cNvSpPr txBox="1"/>
          <p:nvPr/>
        </p:nvSpPr>
        <p:spPr>
          <a:xfrm>
            <a:off x="8321040" y="3154680"/>
            <a:ext cx="2926080" cy="822960"/>
          </a:xfrm>
          <a:prstGeom prst="rect">
            <a:avLst/>
          </a:prstGeom>
          <a:noFill/>
          <a:ln/>
        </p:spPr>
        <p:txBody>
          <a:bodyPr wrap="square" lIns="0" tIns="0" rIns="0" bIns="0" rtlCol="0" anchor="t"/>
          <a:lstStyle/>
          <a:p>
            <a:pPr algn="ctr" indent="0" marL="0">
              <a:buNone/>
            </a:pPr>
            <a:r>
              <a:rPr lang="en-US" sz="1400" dirty="0">
                <a:solidFill>
                  <a:schemeClr val="accent5"/>
                </a:solidFill>
              </a:rPr>
              <a:t>ACTION must match the selection</a:t>
            </a:r>
            <a:endParaRPr lang="en-US" sz="1400" dirty="0"/>
          </a:p>
        </p:txBody>
      </p:sp>
      <p:sp>
        <p:nvSpPr>
          <p:cNvPr id="16" name="card"/>
          <p:cNvSpPr/>
          <p:nvPr/>
        </p:nvSpPr>
        <p:spPr>
          <a:xfrm>
            <a:off x="548640" y="4434840"/>
            <a:ext cx="11064240" cy="1645920"/>
          </a:xfrm>
          <a:prstGeom prst="roundRect">
            <a:avLst>
              <a:gd name="adj" fmla="val 4444"/>
            </a:avLst>
          </a:prstGeom>
          <a:solidFill>
            <a:schemeClr val="bg2"/>
          </a:solidFill>
          <a:ln/>
        </p:spPr>
      </p:sp>
      <p:sp>
        <p:nvSpPr>
          <p:cNvPr id="17" name="icon bg FaTachometerAlt"/>
          <p:cNvSpPr/>
          <p:nvPr/>
        </p:nvSpPr>
        <p:spPr>
          <a:xfrm>
            <a:off x="822960" y="4800600"/>
            <a:ext cx="822960" cy="822960"/>
          </a:xfrm>
          <a:prstGeom prst="ellipse">
            <a:avLst/>
          </a:prstGeom>
          <a:solidFill>
            <a:schemeClr val="accent1"/>
          </a:solidFill>
          <a:ln/>
        </p:spPr>
      </p:sp>
      <p:pic>
        <p:nvPicPr>
          <p:cNvPr id="18" name="icon FaTachometerAlt" descr="preencoded.png">    </p:cNvPr>
          <p:cNvPicPr>
            <a:picLocks noChangeAspect="1"/>
          </p:cNvPicPr>
          <p:nvPr/>
        </p:nvPicPr>
        <p:blipFill>
          <a:blip r:embed="rId1"/>
          <a:stretch>
            <a:fillRect/>
          </a:stretch>
        </p:blipFill>
        <p:spPr>
          <a:xfrm>
            <a:off x="1028700" y="5006340"/>
            <a:ext cx="411480" cy="411480"/>
          </a:xfrm>
          <a:prstGeom prst="rect">
            <a:avLst/>
          </a:prstGeom>
        </p:spPr>
      </p:pic>
      <p:sp>
        <p:nvSpPr>
          <p:cNvPr id="19" name="Text 15"/>
          <p:cNvSpPr txBox="1"/>
          <p:nvPr/>
        </p:nvSpPr>
        <p:spPr>
          <a:xfrm>
            <a:off x="1920240" y="4617720"/>
            <a:ext cx="9509760" cy="1371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Existence checks, reference data and descriptions are read in bulk before the loop</a:t>
            </a:r>
            <a:endParaRPr lang="en-US" sz="1500" dirty="0"/>
          </a:p>
          <a:p>
            <a:pPr marL="203200" indent="-203200">
              <a:spcAft>
                <a:spcPts val="800"/>
              </a:spcAft>
              <a:buSzPct val="100000"/>
              <a:buChar char="•"/>
            </a:pPr>
            <a:r>
              <a:rPr lang="en-US" sz="1500" dirty="0">
                <a:solidFill>
                  <a:schemeClr val="tx1"/>
                </a:solidFill>
              </a:rPr>
              <a:t>Constants per operation: foreground and hard limit can be tuned separately</a:t>
            </a:r>
            <a:endParaRPr lang="en-US" sz="1500" dirty="0"/>
          </a:p>
          <a:p>
            <a:pPr marL="203200" indent="-203200">
              <a:spcAft>
                <a:spcPts val="800"/>
              </a:spcAft>
              <a:buSzPct val="100000"/>
              <a:buChar char="•"/>
            </a:pPr>
            <a:r>
              <a:rPr lang="en-US" sz="1500" dirty="0">
                <a:solidFill>
                  <a:schemeClr val="tx1"/>
                </a:solidFill>
              </a:rPr>
              <a:t>Large files: application server + background job (F9)</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Local PC or application server</a:t>
            </a:r>
            <a:endParaRPr lang="en-US" sz="3200" dirty="0"/>
          </a:p>
        </p:txBody>
      </p:sp>
      <p:pic>
        <p:nvPicPr>
          <p:cNvPr id="4" name="figure cg3z.png" descr="/tmp/claude-0/-home-user-zmm-material-maintenance/1352b8c0-3fee-5073-834d-e95bee04ea8d/scratchpad/ppt/../doc/img/cg3z.png">    </p:cNvPr>
          <p:cNvPicPr>
            <a:picLocks noChangeAspect="1"/>
          </p:cNvPicPr>
          <p:nvPr/>
        </p:nvPicPr>
        <p:blipFill>
          <a:blip r:embed="rId1"/>
          <a:stretch>
            <a:fillRect/>
          </a:stretch>
        </p:blipFill>
        <p:spPr>
          <a:xfrm>
            <a:off x="6309360" y="1280160"/>
            <a:ext cx="5303520" cy="2520670"/>
          </a:xfrm>
          <a:prstGeom prst="rect">
            <a:avLst/>
          </a:prstGeom>
          <a:effectLst>
            <a:outerShdw sx="100000" sy="100000" kx="0" ky="0" algn="bl" rotWithShape="0" blurRad="76200" dist="25400" dir="5400000">
              <a:srgbClr val="000000">
                <a:alpha val="18000"/>
              </a:srgbClr>
            </a:outerShdw>
          </a:effectLst>
        </p:spPr>
      </p:pic>
      <p:sp>
        <p:nvSpPr>
          <p:cNvPr id="5" name="card"/>
          <p:cNvSpPr/>
          <p:nvPr/>
        </p:nvSpPr>
        <p:spPr>
          <a:xfrm>
            <a:off x="548640" y="1280160"/>
            <a:ext cx="5440680" cy="2194560"/>
          </a:xfrm>
          <a:prstGeom prst="roundRect">
            <a:avLst>
              <a:gd name="adj" fmla="val 3333"/>
            </a:avLst>
          </a:prstGeom>
          <a:solidFill>
            <a:schemeClr val="bg2"/>
          </a:solidFill>
          <a:ln/>
        </p:spPr>
      </p:sp>
      <p:sp>
        <p:nvSpPr>
          <p:cNvPr id="6" name="icon bg FaDesktop"/>
          <p:cNvSpPr/>
          <p:nvPr/>
        </p:nvSpPr>
        <p:spPr>
          <a:xfrm>
            <a:off x="822960" y="1508760"/>
            <a:ext cx="640080" cy="640080"/>
          </a:xfrm>
          <a:prstGeom prst="ellipse">
            <a:avLst/>
          </a:prstGeom>
          <a:solidFill>
            <a:schemeClr val="accent1"/>
          </a:solidFill>
          <a:ln/>
        </p:spPr>
      </p:sp>
      <p:pic>
        <p:nvPicPr>
          <p:cNvPr id="7" name="icon FaDesktop" descr="preencoded.png">    </p:cNvPr>
          <p:cNvPicPr>
            <a:picLocks noChangeAspect="1"/>
          </p:cNvPicPr>
          <p:nvPr/>
        </p:nvPicPr>
        <p:blipFill>
          <a:blip r:embed="rId2"/>
          <a:stretch>
            <a:fillRect/>
          </a:stretch>
        </p:blipFill>
        <p:spPr>
          <a:xfrm>
            <a:off x="982980" y="1668780"/>
            <a:ext cx="320040" cy="320040"/>
          </a:xfrm>
          <a:prstGeom prst="rect">
            <a:avLst/>
          </a:prstGeom>
        </p:spPr>
      </p:pic>
      <p:sp>
        <p:nvSpPr>
          <p:cNvPr id="8" name="Text 3"/>
          <p:cNvSpPr txBox="1"/>
          <p:nvPr/>
        </p:nvSpPr>
        <p:spPr>
          <a:xfrm>
            <a:off x="1645920" y="155448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Local PC</a:t>
            </a:r>
            <a:endParaRPr lang="en-US" sz="2000" dirty="0"/>
          </a:p>
        </p:txBody>
      </p:sp>
      <p:sp>
        <p:nvSpPr>
          <p:cNvPr id="9" name="Text 4"/>
          <p:cNvSpPr txBox="1"/>
          <p:nvPr/>
        </p:nvSpPr>
        <p:spPr>
          <a:xfrm>
            <a:off x="822960" y="2331720"/>
            <a:ext cx="4937760" cy="1005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Simple, for daily use up to 1000 rows</a:t>
            </a:r>
            <a:endParaRPr lang="en-US" sz="1500" dirty="0"/>
          </a:p>
          <a:p>
            <a:pPr marL="203200" indent="-203200">
              <a:spcAft>
                <a:spcPts val="800"/>
              </a:spcAft>
              <a:buSzPct val="100000"/>
              <a:buChar char="•"/>
            </a:pPr>
            <a:r>
              <a:rPr lang="en-US" sz="1500" dirty="0">
                <a:solidFill>
                  <a:schemeClr val="tx1"/>
                </a:solidFill>
              </a:rPr>
              <a:t>Foreground only</a:t>
            </a:r>
            <a:endParaRPr lang="en-US" sz="1500" dirty="0"/>
          </a:p>
        </p:txBody>
      </p:sp>
      <p:sp>
        <p:nvSpPr>
          <p:cNvPr id="10" name="card"/>
          <p:cNvSpPr/>
          <p:nvPr/>
        </p:nvSpPr>
        <p:spPr>
          <a:xfrm>
            <a:off x="548640" y="3703320"/>
            <a:ext cx="5440680" cy="2377440"/>
          </a:xfrm>
          <a:prstGeom prst="roundRect">
            <a:avLst>
              <a:gd name="adj" fmla="val 3077"/>
            </a:avLst>
          </a:prstGeom>
          <a:solidFill>
            <a:schemeClr val="bg2"/>
          </a:solidFill>
          <a:ln/>
        </p:spPr>
      </p:sp>
      <p:sp>
        <p:nvSpPr>
          <p:cNvPr id="11" name="icon bg FaServer"/>
          <p:cNvSpPr/>
          <p:nvPr/>
        </p:nvSpPr>
        <p:spPr>
          <a:xfrm>
            <a:off x="822960" y="3931920"/>
            <a:ext cx="640080" cy="640080"/>
          </a:xfrm>
          <a:prstGeom prst="ellipse">
            <a:avLst/>
          </a:prstGeom>
          <a:solidFill>
            <a:schemeClr val="accent2"/>
          </a:solidFill>
          <a:ln/>
        </p:spPr>
      </p:sp>
      <p:pic>
        <p:nvPicPr>
          <p:cNvPr id="12" name="icon FaServer" descr="preencoded.png">    </p:cNvPr>
          <p:cNvPicPr>
            <a:picLocks noChangeAspect="1"/>
          </p:cNvPicPr>
          <p:nvPr/>
        </p:nvPicPr>
        <p:blipFill>
          <a:blip r:embed="rId3"/>
          <a:stretch>
            <a:fillRect/>
          </a:stretch>
        </p:blipFill>
        <p:spPr>
          <a:xfrm>
            <a:off x="982980" y="4091940"/>
            <a:ext cx="320040" cy="320040"/>
          </a:xfrm>
          <a:prstGeom prst="rect">
            <a:avLst/>
          </a:prstGeom>
        </p:spPr>
      </p:pic>
      <p:sp>
        <p:nvSpPr>
          <p:cNvPr id="13" name="Text 7"/>
          <p:cNvSpPr txBox="1"/>
          <p:nvPr/>
        </p:nvSpPr>
        <p:spPr>
          <a:xfrm>
            <a:off x="1645920" y="397764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Application server</a:t>
            </a:r>
            <a:endParaRPr lang="en-US" sz="2000" dirty="0"/>
          </a:p>
        </p:txBody>
      </p:sp>
      <p:sp>
        <p:nvSpPr>
          <p:cNvPr id="14" name="Text 8"/>
          <p:cNvSpPr txBox="1"/>
          <p:nvPr/>
        </p:nvSpPr>
        <p:spPr>
          <a:xfrm>
            <a:off x="822960" y="4754880"/>
            <a:ext cx="4937760" cy="1188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Needed for background runs</a:t>
            </a:r>
            <a:endParaRPr lang="en-US" sz="1500" dirty="0"/>
          </a:p>
          <a:p>
            <a:pPr marL="203200" indent="-203200">
              <a:spcAft>
                <a:spcPts val="800"/>
              </a:spcAft>
              <a:buSzPct val="100000"/>
              <a:buChar char="•"/>
            </a:pPr>
            <a:r>
              <a:rPr lang="en-US" sz="1500" dirty="0">
                <a:solidFill>
                  <a:schemeClr val="tx1"/>
                </a:solidFill>
              </a:rPr>
              <a:t>Copy in BINARY mode (e.g. CG3Z) - ASCII damages the xlsx</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Deliverables</a:t>
            </a:r>
            <a:endParaRPr lang="en-US" sz="3200" dirty="0"/>
          </a:p>
        </p:txBody>
      </p:sp>
      <p:sp>
        <p:nvSpPr>
          <p:cNvPr id="4" name="card"/>
          <p:cNvSpPr/>
          <p:nvPr/>
        </p:nvSpPr>
        <p:spPr>
          <a:xfrm>
            <a:off x="548640" y="1463040"/>
            <a:ext cx="5440680" cy="2103120"/>
          </a:xfrm>
          <a:prstGeom prst="roundRect">
            <a:avLst>
              <a:gd name="adj" fmla="val 3478"/>
            </a:avLst>
          </a:prstGeom>
          <a:solidFill>
            <a:schemeClr val="bg2"/>
          </a:solidFill>
          <a:ln/>
        </p:spPr>
      </p:sp>
      <p:sp>
        <p:nvSpPr>
          <p:cNvPr id="5" name="icon bg FaCode"/>
          <p:cNvSpPr/>
          <p:nvPr/>
        </p:nvSpPr>
        <p:spPr>
          <a:xfrm>
            <a:off x="868680" y="1920240"/>
            <a:ext cx="914400" cy="914400"/>
          </a:xfrm>
          <a:prstGeom prst="ellipse">
            <a:avLst/>
          </a:prstGeom>
          <a:solidFill>
            <a:schemeClr val="accent1"/>
          </a:solidFill>
          <a:ln/>
        </p:spPr>
      </p:sp>
      <p:pic>
        <p:nvPicPr>
          <p:cNvPr id="6" name="icon FaCode" descr="preencoded.png">    </p:cNvPr>
          <p:cNvPicPr>
            <a:picLocks noChangeAspect="1"/>
          </p:cNvPicPr>
          <p:nvPr/>
        </p:nvPicPr>
        <p:blipFill>
          <a:blip r:embed="rId1"/>
          <a:stretch>
            <a:fillRect/>
          </a:stretch>
        </p:blipFill>
        <p:spPr>
          <a:xfrm>
            <a:off x="1097280" y="2148840"/>
            <a:ext cx="457200" cy="457200"/>
          </a:xfrm>
          <a:prstGeom prst="rect">
            <a:avLst/>
          </a:prstGeom>
        </p:spPr>
      </p:pic>
      <p:sp>
        <p:nvSpPr>
          <p:cNvPr id="7" name="Text 3"/>
          <p:cNvSpPr txBox="1"/>
          <p:nvPr/>
        </p:nvSpPr>
        <p:spPr>
          <a:xfrm>
            <a:off x="2103120" y="1783080"/>
            <a:ext cx="3657600" cy="502920"/>
          </a:xfrm>
          <a:prstGeom prst="rect">
            <a:avLst/>
          </a:prstGeom>
          <a:noFill/>
          <a:ln/>
        </p:spPr>
        <p:txBody>
          <a:bodyPr wrap="square" lIns="0" tIns="0" rIns="0" bIns="0" rtlCol="0" anchor="t"/>
          <a:lstStyle/>
          <a:p>
            <a:pPr indent="0" marL="0">
              <a:buNone/>
            </a:pPr>
            <a:r>
              <a:rPr lang="en-US" sz="2000" b="1" dirty="0">
                <a:solidFill>
                  <a:schemeClr val="tx2"/>
                </a:solidFill>
              </a:rPr>
              <a:t>Program</a:t>
            </a:r>
            <a:endParaRPr lang="en-US" sz="2000" dirty="0"/>
          </a:p>
        </p:txBody>
      </p:sp>
      <p:sp>
        <p:nvSpPr>
          <p:cNvPr id="8" name="Text 4"/>
          <p:cNvSpPr txBox="1"/>
          <p:nvPr/>
        </p:nvSpPr>
        <p:spPr>
          <a:xfrm>
            <a:off x="2103120" y="233172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ZMM_MATERIAL_MAINTENANCE with includes D01 (data), S01 (screen), C01 / C02 (classes)</a:t>
            </a:r>
            <a:endParaRPr lang="en-US" sz="1500" dirty="0"/>
          </a:p>
        </p:txBody>
      </p:sp>
      <p:sp>
        <p:nvSpPr>
          <p:cNvPr id="9" name="card"/>
          <p:cNvSpPr/>
          <p:nvPr/>
        </p:nvSpPr>
        <p:spPr>
          <a:xfrm>
            <a:off x="6172200" y="1463040"/>
            <a:ext cx="5440680" cy="2103120"/>
          </a:xfrm>
          <a:prstGeom prst="roundRect">
            <a:avLst>
              <a:gd name="adj" fmla="val 3478"/>
            </a:avLst>
          </a:prstGeom>
          <a:solidFill>
            <a:schemeClr val="bg2"/>
          </a:solidFill>
          <a:ln/>
        </p:spPr>
      </p:sp>
      <p:sp>
        <p:nvSpPr>
          <p:cNvPr id="10" name="icon bg FaBook"/>
          <p:cNvSpPr/>
          <p:nvPr/>
        </p:nvSpPr>
        <p:spPr>
          <a:xfrm>
            <a:off x="6492240" y="1920240"/>
            <a:ext cx="914400" cy="914400"/>
          </a:xfrm>
          <a:prstGeom prst="ellipse">
            <a:avLst/>
          </a:prstGeom>
          <a:solidFill>
            <a:schemeClr val="accent1"/>
          </a:solidFill>
          <a:ln/>
        </p:spPr>
      </p:sp>
      <p:pic>
        <p:nvPicPr>
          <p:cNvPr id="11" name="icon FaBook" descr="preencoded.png">    </p:cNvPr>
          <p:cNvPicPr>
            <a:picLocks noChangeAspect="1"/>
          </p:cNvPicPr>
          <p:nvPr/>
        </p:nvPicPr>
        <p:blipFill>
          <a:blip r:embed="rId2"/>
          <a:stretch>
            <a:fillRect/>
          </a:stretch>
        </p:blipFill>
        <p:spPr>
          <a:xfrm>
            <a:off x="6720840" y="2148840"/>
            <a:ext cx="457200" cy="457200"/>
          </a:xfrm>
          <a:prstGeom prst="rect">
            <a:avLst/>
          </a:prstGeom>
        </p:spPr>
      </p:pic>
      <p:sp>
        <p:nvSpPr>
          <p:cNvPr id="12" name="Text 7"/>
          <p:cNvSpPr txBox="1"/>
          <p:nvPr/>
        </p:nvSpPr>
        <p:spPr>
          <a:xfrm>
            <a:off x="7726680" y="1783080"/>
            <a:ext cx="3657600" cy="502920"/>
          </a:xfrm>
          <a:prstGeom prst="rect">
            <a:avLst/>
          </a:prstGeom>
          <a:noFill/>
          <a:ln/>
        </p:spPr>
        <p:txBody>
          <a:bodyPr wrap="square" lIns="0" tIns="0" rIns="0" bIns="0" rtlCol="0" anchor="t"/>
          <a:lstStyle/>
          <a:p>
            <a:pPr indent="0" marL="0">
              <a:buNone/>
            </a:pPr>
            <a:r>
              <a:rPr lang="en-US" sz="2000" b="1" dirty="0">
                <a:solidFill>
                  <a:schemeClr val="tx2"/>
                </a:solidFill>
              </a:rPr>
              <a:t>Training guide</a:t>
            </a:r>
            <a:endParaRPr lang="en-US" sz="2000" dirty="0"/>
          </a:p>
        </p:txBody>
      </p:sp>
      <p:sp>
        <p:nvSpPr>
          <p:cNvPr id="13" name="Text 8"/>
          <p:cNvSpPr txBox="1"/>
          <p:nvPr/>
        </p:nvSpPr>
        <p:spPr>
          <a:xfrm>
            <a:off x="7726680" y="233172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36-page Word guide: Create, Update, Extend, messages, Q&amp;A</a:t>
            </a:r>
            <a:endParaRPr lang="en-US" sz="1500" dirty="0"/>
          </a:p>
        </p:txBody>
      </p:sp>
      <p:sp>
        <p:nvSpPr>
          <p:cNvPr id="14" name="card"/>
          <p:cNvSpPr/>
          <p:nvPr/>
        </p:nvSpPr>
        <p:spPr>
          <a:xfrm>
            <a:off x="548640" y="3794760"/>
            <a:ext cx="5440680" cy="2103120"/>
          </a:xfrm>
          <a:prstGeom prst="roundRect">
            <a:avLst>
              <a:gd name="adj" fmla="val 3478"/>
            </a:avLst>
          </a:prstGeom>
          <a:solidFill>
            <a:schemeClr val="bg2"/>
          </a:solidFill>
          <a:ln/>
        </p:spPr>
      </p:sp>
      <p:sp>
        <p:nvSpPr>
          <p:cNvPr id="15" name="icon bg FaFileExcel"/>
          <p:cNvSpPr/>
          <p:nvPr/>
        </p:nvSpPr>
        <p:spPr>
          <a:xfrm>
            <a:off x="868680" y="4251960"/>
            <a:ext cx="914400" cy="914400"/>
          </a:xfrm>
          <a:prstGeom prst="ellipse">
            <a:avLst/>
          </a:prstGeom>
          <a:solidFill>
            <a:schemeClr val="accent1"/>
          </a:solidFill>
          <a:ln/>
        </p:spPr>
      </p:sp>
      <p:pic>
        <p:nvPicPr>
          <p:cNvPr id="16" name="icon FaFileExcel" descr="preencoded.png">    </p:cNvPr>
          <p:cNvPicPr>
            <a:picLocks noChangeAspect="1"/>
          </p:cNvPicPr>
          <p:nvPr/>
        </p:nvPicPr>
        <p:blipFill>
          <a:blip r:embed="rId3"/>
          <a:stretch>
            <a:fillRect/>
          </a:stretch>
        </p:blipFill>
        <p:spPr>
          <a:xfrm>
            <a:off x="1097280" y="4480560"/>
            <a:ext cx="457200" cy="457200"/>
          </a:xfrm>
          <a:prstGeom prst="rect">
            <a:avLst/>
          </a:prstGeom>
        </p:spPr>
      </p:pic>
      <p:sp>
        <p:nvSpPr>
          <p:cNvPr id="17" name="Text 11"/>
          <p:cNvSpPr txBox="1"/>
          <p:nvPr/>
        </p:nvSpPr>
        <p:spPr>
          <a:xfrm>
            <a:off x="2103120" y="4114800"/>
            <a:ext cx="3657600" cy="502920"/>
          </a:xfrm>
          <a:prstGeom prst="rect">
            <a:avLst/>
          </a:prstGeom>
          <a:noFill/>
          <a:ln/>
        </p:spPr>
        <p:txBody>
          <a:bodyPr wrap="square" lIns="0" tIns="0" rIns="0" bIns="0" rtlCol="0" anchor="t"/>
          <a:lstStyle/>
          <a:p>
            <a:pPr indent="0" marL="0">
              <a:buNone/>
            </a:pPr>
            <a:r>
              <a:rPr lang="en-US" sz="2000" b="1" dirty="0">
                <a:solidFill>
                  <a:schemeClr val="tx2"/>
                </a:solidFill>
              </a:rPr>
              <a:t>Instruction sheets</a:t>
            </a:r>
            <a:endParaRPr lang="en-US" sz="2000" dirty="0"/>
          </a:p>
        </p:txBody>
      </p:sp>
      <p:sp>
        <p:nvSpPr>
          <p:cNvPr id="18" name="Text 12"/>
          <p:cNvSpPr txBox="1"/>
          <p:nvPr/>
        </p:nvSpPr>
        <p:spPr>
          <a:xfrm>
            <a:off x="2103120" y="466344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One per template - first sheet of each template</a:t>
            </a:r>
            <a:endParaRPr lang="en-US" sz="1500" dirty="0"/>
          </a:p>
        </p:txBody>
      </p:sp>
      <p:sp>
        <p:nvSpPr>
          <p:cNvPr id="19" name="card"/>
          <p:cNvSpPr/>
          <p:nvPr/>
        </p:nvSpPr>
        <p:spPr>
          <a:xfrm>
            <a:off x="6172200" y="3794760"/>
            <a:ext cx="5440680" cy="2103120"/>
          </a:xfrm>
          <a:prstGeom prst="roundRect">
            <a:avLst>
              <a:gd name="adj" fmla="val 3478"/>
            </a:avLst>
          </a:prstGeom>
          <a:solidFill>
            <a:schemeClr val="bg2"/>
          </a:solidFill>
          <a:ln/>
        </p:spPr>
      </p:sp>
      <p:sp>
        <p:nvSpPr>
          <p:cNvPr id="20" name="icon bg FaGithub"/>
          <p:cNvSpPr/>
          <p:nvPr/>
        </p:nvSpPr>
        <p:spPr>
          <a:xfrm>
            <a:off x="6492240" y="4251960"/>
            <a:ext cx="914400" cy="914400"/>
          </a:xfrm>
          <a:prstGeom prst="ellipse">
            <a:avLst/>
          </a:prstGeom>
          <a:solidFill>
            <a:schemeClr val="accent1"/>
          </a:solidFill>
          <a:ln/>
        </p:spPr>
      </p:sp>
      <p:pic>
        <p:nvPicPr>
          <p:cNvPr id="21" name="icon FaGithub" descr="preencoded.png">    </p:cNvPr>
          <p:cNvPicPr>
            <a:picLocks noChangeAspect="1"/>
          </p:cNvPicPr>
          <p:nvPr/>
        </p:nvPicPr>
        <p:blipFill>
          <a:blip r:embed="rId4"/>
          <a:stretch>
            <a:fillRect/>
          </a:stretch>
        </p:blipFill>
        <p:spPr>
          <a:xfrm>
            <a:off x="6720840" y="4480560"/>
            <a:ext cx="457200" cy="457200"/>
          </a:xfrm>
          <a:prstGeom prst="rect">
            <a:avLst/>
          </a:prstGeom>
        </p:spPr>
      </p:pic>
      <p:sp>
        <p:nvSpPr>
          <p:cNvPr id="22" name="Text 15"/>
          <p:cNvSpPr txBox="1"/>
          <p:nvPr/>
        </p:nvSpPr>
        <p:spPr>
          <a:xfrm>
            <a:off x="7726680" y="4114800"/>
            <a:ext cx="3657600" cy="502920"/>
          </a:xfrm>
          <a:prstGeom prst="rect">
            <a:avLst/>
          </a:prstGeom>
          <a:noFill/>
          <a:ln/>
        </p:spPr>
        <p:txBody>
          <a:bodyPr wrap="square" lIns="0" tIns="0" rIns="0" bIns="0" rtlCol="0" anchor="t"/>
          <a:lstStyle/>
          <a:p>
            <a:pPr indent="0" marL="0">
              <a:buNone/>
            </a:pPr>
            <a:r>
              <a:rPr lang="en-US" sz="2000" b="1" dirty="0">
                <a:solidFill>
                  <a:schemeClr val="tx2"/>
                </a:solidFill>
              </a:rPr>
              <a:t>README</a:t>
            </a:r>
            <a:endParaRPr lang="en-US" sz="2000" dirty="0"/>
          </a:p>
        </p:txBody>
      </p:sp>
      <p:sp>
        <p:nvSpPr>
          <p:cNvPr id="23" name="Text 16"/>
          <p:cNvSpPr txBox="1"/>
          <p:nvPr/>
        </p:nvSpPr>
        <p:spPr>
          <a:xfrm>
            <a:off x="7726680" y="4663440"/>
            <a:ext cx="3657600" cy="1097280"/>
          </a:xfrm>
          <a:prstGeom prst="rect">
            <a:avLst/>
          </a:prstGeom>
          <a:noFill/>
          <a:ln/>
        </p:spPr>
        <p:txBody>
          <a:bodyPr wrap="square" lIns="0" tIns="0" rIns="0" bIns="0" rtlCol="0" anchor="t"/>
          <a:lstStyle/>
          <a:p>
            <a:pPr indent="0" marL="0">
              <a:buNone/>
            </a:pPr>
            <a:r>
              <a:rPr lang="en-US" sz="1500" dirty="0">
                <a:solidFill>
                  <a:schemeClr val="accent5"/>
                </a:solidFill>
              </a:rPr>
              <a:t>Operations, input rules, repository contents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Thank you - questions?</a:t>
            </a:r>
            <a:endParaRPr lang="en-US" sz="48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indent="0" marL="0">
              <a:buNone/>
            </a:pPr>
            <a:r>
              <a:rPr lang="en-US" sz="2200" dirty="0">
                <a:solidFill>
                  <a:schemeClr val="accent6"/>
                </a:solidFill>
              </a:rPr>
              <a:t>One file  |  Configured rules  |  Simulated before saved  |  Fully logged</a:t>
            </a:r>
            <a:endParaRPr lang="en-US" sz="2200" dirty="0"/>
          </a:p>
        </p:txBody>
      </p:sp>
      <p:sp>
        <p:nvSpPr>
          <p:cNvPr id="4" name="icon bg FaComments"/>
          <p:cNvSpPr/>
          <p:nvPr/>
        </p:nvSpPr>
        <p:spPr>
          <a:xfrm>
            <a:off x="731520" y="822960"/>
            <a:ext cx="914400" cy="914400"/>
          </a:xfrm>
          <a:prstGeom prst="ellipse">
            <a:avLst/>
          </a:prstGeom>
          <a:solidFill>
            <a:schemeClr val="accent2"/>
          </a:solidFill>
          <a:ln/>
        </p:spPr>
      </p:sp>
      <p:pic>
        <p:nvPicPr>
          <p:cNvPr id="5" name="icon FaComments" descr="preencoded.png">    </p:cNvPr>
          <p:cNvPicPr>
            <a:picLocks noChangeAspect="1"/>
          </p:cNvPicPr>
          <p:nvPr/>
        </p:nvPicPr>
        <p:blipFill>
          <a:blip r:embed="rId1"/>
          <a:stretch>
            <a:fillRect/>
          </a:stretch>
        </p:blipFill>
        <p:spPr>
          <a:xfrm>
            <a:off x="960120" y="1051560"/>
            <a:ext cx="457200" cy="457200"/>
          </a:xfrm>
          <a:prstGeom prst="rect">
            <a:avLst/>
          </a:prstGeom>
        </p:spPr>
      </p:pic>
    </p:spTree>
  </p:cSld>
  <p:clrMapOvr>
    <a:masterClrMapping/>
  </p:clrMapOvr>
</p:sld>
</file>

<file path=ppt/theme/theme1.xml><?xml version="1.0" encoding="utf-8"?>
<a:theme xmlns:a="http://schemas.openxmlformats.org/drawingml/2006/main" name="Material Maintenance">
  <a:themeElements>
    <a:clrScheme name="Material Maintenance">
      <a:dk1>
        <a:srgbClr val="1B2A30"/>
      </a:dk1>
      <a:lt1>
        <a:srgbClr val="FFFFFF"/>
      </a:lt1>
      <a:dk2>
        <a:srgbClr val="0E3A47"/>
      </a:dk2>
      <a:lt2>
        <a:srgbClr val="EEF4F5"/>
      </a:lt2>
      <a:accent1>
        <a:srgbClr val="13808B"/>
      </a:accent1>
      <a:accent2>
        <a:srgbClr val="F2A93B"/>
      </a:accent2>
      <a:accent3>
        <a:srgbClr val="D9534F"/>
      </a:accent3>
      <a:accent4>
        <a:srgbClr val="3E9B5F"/>
      </a:accent4>
      <a:accent5>
        <a:srgbClr val="5B6F78"/>
      </a:accent5>
      <a:accent6>
        <a:srgbClr val="8FC9CF"/>
      </a:accent6>
      <a:hlink>
        <a:srgbClr val="13808B"/>
      </a:hlink>
      <a:folHlink>
        <a:srgbClr val="5B6F78"/>
      </a:folHlink>
    </a:clrScheme>
    <a:fontScheme name="Material Mainte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 Material Maintenance - ZMM_MATERIAL_MAINTENANCE</dc:title>
  <dc:subject>PptxGenJS Presentation</dc:subject>
  <dc:creator>PptxGenJS</dc:creator>
  <cp:lastModifiedBy>PptxGenJS</cp:lastModifiedBy>
  <cp:revision>1</cp:revision>
  <dcterms:created xsi:type="dcterms:W3CDTF">2026-10-21T03:23:29Z</dcterms:created>
  <dcterms:modified xsi:type="dcterms:W3CDTF">2026-10-21T03:23:29Z</dcterms:modified>
</cp:coreProperties>
</file>